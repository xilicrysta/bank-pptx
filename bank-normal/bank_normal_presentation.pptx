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みんなの銀行基礎知識</a:t>
            </a:r>
          </a:p>
          <a:p>
            <a:pPr algn="ctr">
              <a:spcBef>
                <a:spcPts val="3000"/>
              </a:spcBef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〜 難しくない！お金と銀行のリアルな話 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銀行とは、何をするところか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お金を安全に預けておく「巨大な金庫」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毎月の給料が振り込まれる「自分の口座」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実は、ただの「お金の置き場所」ではない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社会中にお金をくまなく巡らせる『心臓』としての役割がある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銀行ってそもそも何なのか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9" name="Rounded Rectangle 18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本日のアジェンダ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今日話すこと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1. 銀行の基本的な仕組み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2. 銀行の本質（なぜ存在するのか）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3. 新しいテクノロジーと異業種の参入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4. 地方銀行の現状と投資ファンドの役割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5. 銀行のこれからの姿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  <a:r>
              <a:rPr a:ea="Meiryo">
                <a:latin typeface="Arial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0158984" y="1165860"/>
            <a:ext cx="73152" cy="6858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銀行の三大業務（大切な仕事）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銀行が絶対にやっている3つのこと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預金 (よきん) ： みんなのお金を安全に預かる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融資 (ゆうし) ： お金に困っている人や頑張る企業に貸す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為替 (かわせ) ： 遠くの人へ、現金を直接運ばずにお金を送金する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お金のめぐり方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銀行は「お金の橋渡し」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お金が余っている人（私たち）から預かる。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お金が足りない人や企業に貸す。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銀行という橋があるから、社会全体でお金がスムーズに回る。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魔法の仕組み：信用創造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銀行を挟むと、なぜかお金の総額が増える仕組み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Aさんの預金</a:t>
            </a:r>
            <a:br/>
            <a:r>
              <a:rPr a:ea="Meiryo">
                <a:latin typeface="Arial"/>
              </a:rPr>
              <a:t>(100円)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Oval 7"/>
          <p:cNvSpPr/>
          <p:nvPr/>
        </p:nvSpPr>
        <p:spPr>
          <a:xfrm>
            <a:off x="384048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Bさんに貸出</a:t>
            </a:r>
            <a:br/>
            <a:r>
              <a:rPr a:ea="Meiryo">
                <a:latin typeface="Arial"/>
              </a:rPr>
              <a:t>(90円)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676656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別の預金へ</a:t>
            </a:r>
            <a:br/>
            <a:r>
              <a:rPr a:ea="Meiryo">
                <a:latin typeface="Arial"/>
              </a:rPr>
              <a:t>(90円)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824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692640" y="3429000"/>
            <a:ext cx="2286000" cy="2286000"/>
          </a:xfrm>
          <a:prstGeom prst="ellipse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世の中のお金</a:t>
            </a:r>
            <a:br/>
            <a:r>
              <a:rPr a:ea="Meiryo">
                <a:latin typeface="Arial"/>
              </a:rPr>
              <a:t>= 190円に！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a:ea="Meiryo">
                <a:latin typeface="Arial"/>
              </a:defRPr>
            </a:pPr>
            <a:r>
              <a:rPr a:ea="Meiryo">
                <a:latin typeface="Arial"/>
              </a:rPr>
              <a:t>銀行を挟んで貸し借りを繰り返すだけで、世の中のお金が増える不思議な仕組み。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信用創造のタネあかし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「データ上のお金」が増えているだけ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実際に現金の札束や硬貨が増えているわけではない。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通帳の残高に「○○円ある」と記録されることで、お金として使える。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この仕組みのおかげで、企業は事業を大きくすることができる。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どうやって儲けるか (利ざや)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普通の商売と同じ「安く仕入れて、高く売る」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017520" cy="210312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① みんなから預かる</a:t>
            </a:r>
            <a:br/>
            <a:r>
              <a:rPr a:ea="Meiryo">
                <a:latin typeface="Arial"/>
              </a:rPr>
              <a:t>(利息 1円を払う)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00400"/>
            <a:ext cx="3017520" cy="2103120"/>
          </a:xfrm>
          <a:prstGeom prst="roundRect">
            <a:avLst/>
          </a:prstGeom>
          <a:solidFill>
            <a:srgbClr val="75757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② 企業に貸す</a:t>
            </a:r>
            <a:br/>
            <a:r>
              <a:rPr a:ea="Meiryo">
                <a:latin typeface="Arial"/>
              </a:rPr>
              <a:t>(利息 10円をもらう)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00400"/>
            <a:ext cx="3200400" cy="21031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③ 銀行の利益</a:t>
            </a:r>
            <a:br/>
            <a:r>
              <a:rPr a:ea="Meiryo">
                <a:latin typeface="Arial"/>
              </a:rPr>
              <a:t>(差額の 9円)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latin typeface="Arial"/>
              </a:defRPr>
            </a:pPr>
            <a:r>
              <a:rPr a:ea="Meiryo">
                <a:latin typeface="Arial"/>
              </a:rPr>
              <a:t>スーパーの「安く仕入れて、高く売る」と全く同じ『利ざや』の考え方である。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他の儲け方 (手数料ビジネス)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利ざや以外にもこんな稼ぎ方がある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振込手数料：お金を送る時にかかる「送料」のようなもの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ATM手数料：時間外や他行の引き出しなどで発生するお金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投資信託・保険：他の金融商品を「代わりに販売する」ことで貰える報酬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銀行のバランスシート (持ち物リスト)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私たちのお金は、銀行にとって『預かりもの』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3200400"/>
            <a:ext cx="4114800" cy="2743200"/>
          </a:xfrm>
          <a:prstGeom prst="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■ お金の使い道 (資産)</a:t>
            </a:r>
            <a:br/>
            <a:br/>
            <a:r>
              <a:rPr a:ea="Meiryo">
                <a:latin typeface="Arial"/>
              </a:rPr>
              <a:t>企業に貸しているお金など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3200400"/>
            <a:ext cx="4114800" cy="274320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■ お金の集め方 (負債)</a:t>
            </a:r>
            <a:br/>
            <a:br/>
            <a:r>
              <a:rPr a:ea="Meiryo">
                <a:latin typeface="Arial"/>
              </a:rPr>
              <a:t>みんなから預かっているお金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647" y="24688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 a:ea="Meiryo">
                <a:latin typeface="Arial"/>
              </a:defRPr>
            </a:pPr>
            <a:r>
              <a:rPr a:ea="Meiryo">
                <a:latin typeface="Arial"/>
              </a:rPr>
              <a:t>私たちが見ると逆！みんなの「預金」は銀行にとって「借金」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  <a:r>
              <a:rPr a:ea="Meiryo">
                <a:latin typeface="Arial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銀行の本質（なぜ存在するのか）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0158984" y="1165860"/>
            <a:ext cx="73152" cy="13716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銀行が存在する最大の理由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「信用」を仲介している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見ず知らずの人に直接お金を貸すのは、返ってこないリスクが大きすぎる。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銀行が間に立ち「確実に返ってくる」という信用を担保している。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預金者も「銀行なら安全だ」と信用してお金を預けることができる。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銀行の歴史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昔はたくさんあった銀行が、合体して巨大化した。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00400"/>
            <a:ext cx="3200400" cy="13716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昔の日本</a:t>
            </a:r>
            <a:br/>
            <a:r>
              <a:rPr a:ea="Meiryo">
                <a:latin typeface="Arial"/>
              </a:rPr>
              <a:t>(たくさんの銀行があった)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29200" y="3383280"/>
            <a:ext cx="2103120" cy="100584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お互いに合体！</a:t>
            </a:r>
            <a:br/>
            <a:r>
              <a:rPr a:ea="Meiryo">
                <a:latin typeface="Arial"/>
              </a:rPr>
              <a:t>(合併)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43200"/>
            <a:ext cx="320040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今の3大メガバンク</a:t>
            </a:r>
            <a:br/>
            <a:br/>
            <a:r>
              <a:rPr a:ea="Meiryo">
                <a:latin typeface="Arial"/>
              </a:rPr>
              <a:t>・三菱UFJ銀行</a:t>
            </a:r>
            <a:br/>
            <a:r>
              <a:rPr a:ea="Meiryo">
                <a:latin typeface="Arial"/>
              </a:rPr>
              <a:t>・三井住友銀行</a:t>
            </a:r>
            <a:br/>
            <a:r>
              <a:rPr a:ea="Meiryo">
                <a:latin typeface="Arial"/>
              </a:rPr>
              <a:t>・みずほ銀行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  <a:r>
              <a:rPr a:ea="Meiryo">
                <a:latin typeface="Arial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新しいテクノロジーと異業種の参入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0158984" y="1165860"/>
            <a:ext cx="73152" cy="20574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スマホ決済の台頭 (PayPayやメルペイ)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銀行に行かなくても支払いができる世界へ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286000" cy="13716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私たち</a:t>
            </a:r>
            <a:br/>
            <a:r>
              <a:rPr a:ea="Meiryo">
                <a:latin typeface="Arial"/>
              </a:rPr>
              <a:t>(スマホ決済)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657600" y="4572000"/>
            <a:ext cx="91440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5029200" y="4114800"/>
            <a:ext cx="2286000" cy="13716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お店</a:t>
            </a:r>
          </a:p>
        </p:txBody>
      </p:sp>
      <p:sp>
        <p:nvSpPr>
          <p:cNvPr id="9" name="Up Arrow 8"/>
          <p:cNvSpPr/>
          <p:nvPr/>
        </p:nvSpPr>
        <p:spPr>
          <a:xfrm>
            <a:off x="1828800" y="3200400"/>
            <a:ext cx="365760" cy="731520"/>
          </a:xfrm>
          <a:prstGeom prst="up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914400" y="2743200"/>
            <a:ext cx="6400800" cy="9144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銀行口座 (裏側でチャージや精算を行っている)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ネット銀行の急成長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「スマホの中にある便利な銀行」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店舗を持たないため、家賃や人件費がかからず、手数料が安い。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ポイントが貯まりやすかったり、アプリが使いやすかったりする。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デジタル通貨の波：ステーブルコイン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ブロックチェーン技術を使った新しいお金の形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32004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デジタル通貨</a:t>
            </a:r>
            <a:br/>
            <a:r>
              <a:rPr a:ea="Meiryo">
                <a:latin typeface="Arial"/>
              </a:rPr>
              <a:t>(仮想通貨など)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114800" y="3931920"/>
            <a:ext cx="1371600" cy="365760"/>
          </a:xfrm>
          <a:prstGeom prst="left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Oval 7"/>
          <p:cNvSpPr/>
          <p:nvPr/>
        </p:nvSpPr>
        <p:spPr>
          <a:xfrm>
            <a:off x="5943600" y="32004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法定通貨</a:t>
            </a:r>
            <a:br/>
            <a:r>
              <a:rPr a:ea="Meiryo">
                <a:latin typeface="Arial"/>
              </a:rPr>
              <a:t>(円やドル)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latin typeface="Arial"/>
              </a:defRPr>
            </a:pPr>
            <a:r>
              <a:rPr a:ea="Meiryo">
                <a:latin typeface="Arial"/>
              </a:rPr>
              <a:t>価格が「円」や「ドル」と連動（固定）しているため、支払いや送金に使いやすい。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テクノロジーがもたらす変化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金融サービスがもっと身近に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銀行以外のIT企業が、次々と金融サービスを提供し始めている。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送金コストが限りなくゼロに近づく未来が予想される。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  <a:r>
              <a:rPr a:ea="Meiryo">
                <a:latin typeface="Arial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地方銀行の現状と投資ファンドの役割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0158984" y="1165860"/>
            <a:ext cx="73152" cy="27432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今の銀行の悩み：金利がほぼ0円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「利ざや」が稼げなくて大ピンチ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今は金利が低いため、企業に貸しても「利息」がほとんど貰えない。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100万円を1年預けても、チロルチョコ1個買えない時代である。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地方銀行の「合体」と「統廃合」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生き残りをかけて規模を大きくする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稼ぎにくくなったため、 　　地方の銀行同士が協力・合体するニュースが増えている。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また、人が来ない店舗（支店）を減らして、 　　コストを下げる努力をしている。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信用金庫の役割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利益第一ではない、地域密着のサポーター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地方銀行と似ているが、株式会社ではないため「株主の利益」を優先しない。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地域の人々や中小企業が互いに助け合う「相互扶助」を目的に作られている。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だからこそ、地元の小さな企業にも親身になって寄り添える。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投資ファンド（PE・VC）との連携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貸すだけではなく、直接経営を支援する時代へ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228600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銀行</a:t>
            </a:r>
            <a:br/>
            <a:r>
              <a:rPr a:ea="Meiryo">
                <a:latin typeface="Arial"/>
              </a:rPr>
              <a:t>(融資)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2743200"/>
            <a:ext cx="2743200" cy="18288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投資ファンド</a:t>
            </a:r>
            <a:br/>
            <a:r>
              <a:rPr a:ea="Meiryo">
                <a:latin typeface="Arial"/>
              </a:rPr>
              <a:t>(PE / VC)</a:t>
            </a:r>
            <a:br/>
            <a:r>
              <a:rPr a:ea="Meiryo">
                <a:latin typeface="Arial"/>
              </a:rPr>
              <a:t>(株式出資・経営支援)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15200" y="3474720"/>
            <a:ext cx="91440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8686800" y="2743200"/>
            <a:ext cx="274320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成長企業・</a:t>
            </a:r>
            <a:br/>
            <a:r>
              <a:rPr a:ea="Meiryo">
                <a:latin typeface="Arial"/>
              </a:rPr>
              <a:t>後継者不足の企業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a:ea="Meiryo">
                <a:latin typeface="Arial"/>
              </a:defRPr>
            </a:pPr>
            <a:r>
              <a:rPr a:ea="Meiryo">
                <a:latin typeface="Arial"/>
              </a:rPr>
              <a:t>銀行がお金を貸すだけでなく、ファンドと協力して企業の成長や再生を直接支援するケースが増えている。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  <a:r>
              <a:rPr a:ea="Meiryo">
                <a:latin typeface="Arial"/>
              </a:rP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0158984" y="1165860"/>
            <a:ext cx="73152" cy="3429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DX (デジタル化) の推進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店舗のデジタル完結へ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「店舗に行って、書類を書いて待つ」という昔のやり方を変える。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スマホアプリひとつで全部完結する「超ベンリな銀行」へ進化中である。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a:ea="Meiryo">
                <a:solidFill>
                  <a:srgbClr val="757575"/>
                </a:solidFill>
                <a:latin typeface="Arial"/>
              </a:defRPr>
            </a:pPr>
            <a:r>
              <a:rPr a:ea="Meiryo">
                <a:latin typeface="Arial"/>
              </a:rPr>
              <a:t>これからのビジネスモデル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「お金を貸すだけ」からの卒業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お金の貸し借りだけでなく、みんなの「生活の悩み」を解決するアドバイザーへ。</a:t>
            </a:r>
          </a:p>
          <a:p>
            <a:pPr>
              <a:spcAft>
                <a:spcPts val="2400"/>
              </a:spcAft>
              <a:defRPr sz="26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● 他の便利なアプリの「裏側」に、銀行の仕組み・機能だけをこっそり提供する。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2B4A"/>
              </a:gs>
              <a:gs pos="37500">
                <a:srgbClr val="1B2B4A"/>
              </a:gs>
              <a:gs pos="100000">
                <a:srgbClr val="465A82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a:ea="Meiryo">
                <a:solidFill>
                  <a:srgbClr val="F0F0F0"/>
                </a:solidFill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a:ea="Meiryo">
                <a:solidFill>
                  <a:srgbClr val="FFFFFF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2B3B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0158984" y="1165860"/>
            <a:ext cx="73152" cy="41148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686800" y="914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導入 (振り返り)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104120" y="1463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8686800" y="16002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銀行の基本的な仕組み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104120" y="21488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8686800" y="22860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銀行の本質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104120" y="28346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0" y="29718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テクノロジーと異業種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0104120" y="35204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8686800" y="36576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地方銀行と投資ファンド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104120" y="42062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8686800" y="4343400"/>
            <a:ext cx="3017520" cy="502920"/>
          </a:xfrm>
          <a:prstGeom prst="roundRect">
            <a:avLst/>
          </a:prstGeom>
          <a:solidFill>
            <a:srgbClr val="1B2B4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8A93A8"/>
                </a:solidFill>
                <a:latin typeface="Arial"/>
              </a:defRPr>
            </a:pPr>
            <a:r>
              <a:rPr a:ea="Meiryo">
                <a:latin typeface="Arial"/>
              </a:rPr>
              <a:t>銀行のこれからの姿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0104120" y="4892040"/>
            <a:ext cx="182880" cy="137160"/>
          </a:xfrm>
          <a:prstGeom prst="downArrow">
            <a:avLst/>
          </a:prstGeom>
          <a:solidFill>
            <a:srgbClr val="8A93A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3017520" cy="502920"/>
          </a:xfrm>
          <a:prstGeom prst="roundRect">
            <a:avLst/>
          </a:prstGeom>
          <a:solidFill>
            <a:srgbClr val="F0F4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a:ea="Meiryo">
                <a:solidFill>
                  <a:srgbClr val="1B2B4A"/>
                </a:solidFill>
                <a:latin typeface="Arial"/>
              </a:defRPr>
            </a:pPr>
            <a:r>
              <a:rPr a:ea="Meiryo">
                <a:latin typeface="Arial"/>
              </a:rPr>
              <a:t>まとめ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a:ea="Meiryo"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今日のまとめ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a:ea="Meiryo">
                <a:latin typeface="Arial"/>
              </a:defRPr>
            </a:pPr>
          </a:p>
          <a:p>
            <a:pPr>
              <a:spcAft>
                <a:spcPts val="2400"/>
              </a:spcAft>
              <a:defRPr sz="28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✔ 銀行は「信用」を仲介し、社会にお金を巡らせる「心臓」の役割を果たす。</a:t>
            </a:r>
          </a:p>
          <a:p>
            <a:pPr>
              <a:spcAft>
                <a:spcPts val="2400"/>
              </a:spcAft>
              <a:defRPr sz="28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✔ 今は金利が低く、地方銀行は合併やファンドとの協力で生き残りを図っている。</a:t>
            </a:r>
          </a:p>
          <a:p>
            <a:pPr>
              <a:spcAft>
                <a:spcPts val="2400"/>
              </a:spcAft>
              <a:defRPr sz="28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✔ テクノロジーの進化により、IT企業など異業種との境界線がなくなりつつある。</a:t>
            </a:r>
          </a:p>
          <a:p>
            <a:pPr>
              <a:spcAft>
                <a:spcPts val="2400"/>
              </a:spcAft>
              <a:defRPr sz="2800" a:ea="Meiryo">
                <a:solidFill>
                  <a:srgbClr val="1C1B19"/>
                </a:solidFill>
                <a:latin typeface="Arial"/>
              </a:defRPr>
            </a:pPr>
            <a:r>
              <a:rPr a:ea="Meiryo">
                <a:latin typeface="Arial"/>
              </a:rPr>
              <a:t>✔ これからはスマホの奥に溶け込む「見えない銀行」へと進化していく。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