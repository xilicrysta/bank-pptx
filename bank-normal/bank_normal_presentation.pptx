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400" b="1">
                <a:solidFill>
                  <a:srgbClr val="1C1B19"/>
                </a:solidFill>
                <a:latin typeface="Hiragino Sans"/>
              </a:defRPr>
            </a:pPr>
            <a:r>
              <a:t>みんなの銀行基礎知識</a:t>
            </a:r>
          </a:p>
          <a:p>
            <a:pPr algn="ctr">
              <a:spcBef>
                <a:spcPts val="3000"/>
              </a:spcBef>
              <a:defRPr sz="2400">
                <a:solidFill>
                  <a:srgbClr val="757575"/>
                </a:solidFill>
                <a:latin typeface="Hiragino Sans"/>
              </a:defRPr>
            </a:pPr>
            <a:r>
              <a:t>〜 難しくない！お金と銀行のリアルな話 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D0D0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57575"/>
                </a:solidFill>
                <a:latin typeface="Hiragino Sans"/>
              </a:defRPr>
            </a:pPr>
            <a:r>
              <a:t>銀行業界の基礎知識 - 易化版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57575"/>
                </a:solidFill>
                <a:latin typeface="Hiragino Sans"/>
              </a:defRPr>
            </a:pPr>
            <a:r>
              <a:t>導入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Q. 銀行って、何をするところ？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77295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お金を安全に預けておく「巨大な金庫」？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毎月のお給料が振り込まれる「自分の口座」？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実は、ただの「お金の置き場所」ではありません。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社会中にお金をくまなく巡らせる『心臓』としての役割があります。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" cy="5394960"/>
          </a:xfrm>
          <a:prstGeom prst="rect">
            <a:avLst/>
          </a:prstGeom>
          <a:solidFill>
            <a:srgbClr val="1C1B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757575"/>
                </a:solidFill>
                <a:latin typeface="Hiragino Sans"/>
              </a:defRPr>
            </a:pPr>
            <a:r>
              <a:t>CHAPTER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C1B19"/>
                </a:solidFill>
                <a:latin typeface="Hiragino Sans"/>
              </a:defRPr>
            </a:pPr>
            <a:r>
              <a:t>銀行ってそもそも何？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D0D0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57575"/>
                </a:solidFill>
                <a:latin typeface="Hiragino Sans"/>
              </a:defRPr>
            </a:pPr>
            <a:r>
              <a:t>銀行業界の基礎知識 - 易化版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57575"/>
                </a:solidFill>
                <a:latin typeface="Hiragino Sans"/>
              </a:defRPr>
            </a:pPr>
            <a:r>
              <a:t>本日のアジェンダ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今日お話しすること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77295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1. 銀行の昔と今（歴史）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2. 銀行はどうやって儲けてる？（仕組み）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3. 今の銀行のリアル（現状）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4. PayPayやスタバがライバル？（脅威）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5. これからの銀行（未来）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" cy="5394960"/>
          </a:xfrm>
          <a:prstGeom prst="rect">
            <a:avLst/>
          </a:prstGeom>
          <a:solidFill>
            <a:srgbClr val="1C1B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757575"/>
                </a:solidFill>
                <a:latin typeface="Hiragino Sans"/>
              </a:defRPr>
            </a:pPr>
            <a:r>
              <a:t>CHAPTER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C1B19"/>
                </a:solidFill>
                <a:latin typeface="Hiragino Sans"/>
              </a:defRPr>
            </a:pPr>
            <a:r>
              <a:t>銀行の歴史：合併の嵐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D0D0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57575"/>
                </a:solidFill>
                <a:latin typeface="Hiragino Sans"/>
              </a:defRPr>
            </a:pPr>
            <a:r>
              <a:t>銀行業界の基礎知識 - 易化版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57575"/>
                </a:solidFill>
                <a:latin typeface="Hiragino Sans"/>
              </a:defRPr>
            </a:pPr>
            <a:r>
              <a:t>銀行の歴史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C1B19"/>
                </a:solidFill>
                <a:latin typeface="Hiragino Sans"/>
              </a:defRPr>
            </a:pPr>
            <a:r>
              <a:t>昔はたくさんあった銀行が、合体して巨大化しました。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200400"/>
            <a:ext cx="3200400" cy="1371600"/>
          </a:xfrm>
          <a:prstGeom prst="roundRect">
            <a:avLst/>
          </a:prstGeom>
          <a:solidFill>
            <a:srgbClr val="F0F0F0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C1B19"/>
                </a:solidFill>
              </a:defRPr>
            </a:pPr>
            <a:r>
              <a:t>昔の日本</a:t>
            </a:r>
            <a:br/>
            <a:r>
              <a:t>(たくさんの銀行があった)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029200" y="3566160"/>
            <a:ext cx="2103120" cy="640080"/>
          </a:xfrm>
          <a:prstGeom prst="rightArrow">
            <a:avLst/>
          </a:prstGeom>
          <a:solidFill>
            <a:srgbClr val="1C1B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お互いに合体！</a:t>
            </a:r>
            <a:br/>
            <a:r>
              <a:t>(合併)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743200"/>
            <a:ext cx="3200400" cy="2286000"/>
          </a:xfrm>
          <a:prstGeom prst="roundRect">
            <a:avLst/>
          </a:prstGeom>
          <a:solidFill>
            <a:srgbClr val="1C1B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今の3大メガバンク</a:t>
            </a:r>
            <a:br/>
            <a:br/>
            <a:r>
              <a:t>・三菱UFJ銀行</a:t>
            </a:r>
            <a:br/>
            <a:r>
              <a:t>・三井住友銀行</a:t>
            </a:r>
            <a:br/>
            <a:r>
              <a:t>・みずほ銀行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" cy="5394960"/>
          </a:xfrm>
          <a:prstGeom prst="rect">
            <a:avLst/>
          </a:prstGeom>
          <a:solidFill>
            <a:srgbClr val="1C1B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757575"/>
                </a:solidFill>
                <a:latin typeface="Hiragino Sans"/>
              </a:defRPr>
            </a:pPr>
            <a:r>
              <a:t>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C1B19"/>
                </a:solidFill>
                <a:latin typeface="Hiragino Sans"/>
              </a:defRPr>
            </a:pPr>
            <a:r>
              <a:t>銀行のお仕事と儲けの仕組み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D0D0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57575"/>
                </a:solidFill>
                <a:latin typeface="Hiragino Sans"/>
              </a:defRPr>
            </a:pPr>
            <a:r>
              <a:t>銀行業界の基礎知識 - 易化版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57575"/>
                </a:solidFill>
                <a:latin typeface="Hiragino Sans"/>
              </a:defRPr>
            </a:pPr>
            <a:r>
              <a:t>銀行の三大業務（大切なお仕事）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銀行が絶対にやっている3つのこと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77295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預金 (よきん) ： みんなのお金を安全にお預かりする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融資 (ゆうし) ： お金に困っている人や頑張る企業に貸す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為替 (かわせ) ： 遠くの人へ、現金を直接運ばずにお金を送金する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D0D0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57575"/>
                </a:solidFill>
                <a:latin typeface="Hiragino Sans"/>
              </a:defRPr>
            </a:pPr>
            <a:r>
              <a:t>銀行業界の基礎知識 - 易化版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57575"/>
                </a:solidFill>
                <a:latin typeface="Hiragino Sans"/>
              </a:defRPr>
            </a:pPr>
            <a:r>
              <a:t>お金のめぐり方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銀行は「お金の橋渡し」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77295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お金が余っている人（私たち）から預かる。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お金が足りない人や企業に貸す。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銀行という橋があるから、社会全体でお金がスムーズに回ります。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D0D0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57575"/>
                </a:solidFill>
                <a:latin typeface="Hiragino Sans"/>
              </a:defRPr>
            </a:pPr>
            <a:r>
              <a:t>銀行業界の基礎知識 - 易化版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57575"/>
                </a:solidFill>
                <a:latin typeface="Hiragino Sans"/>
              </a:defRPr>
            </a:pPr>
            <a:r>
              <a:t>魔法の仕組み：信用創造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C1B19"/>
                </a:solidFill>
                <a:latin typeface="Hiragino Sans"/>
              </a:defRPr>
            </a:pPr>
            <a:r>
              <a:t>銀行を挟むと、なぜかお金の総額が増える！？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3657600"/>
            <a:ext cx="1828800" cy="1828800"/>
          </a:xfrm>
          <a:prstGeom prst="ellipse">
            <a:avLst/>
          </a:prstGeom>
          <a:solidFill>
            <a:srgbClr val="F0F0F0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1C1B19"/>
                </a:solidFill>
              </a:defRPr>
            </a:pPr>
            <a:r>
              <a:t>Aさんの預金</a:t>
            </a:r>
            <a:br/>
            <a:r>
              <a:t>(100円)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26080" y="4389120"/>
            <a:ext cx="731520" cy="36576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40480" y="3657600"/>
            <a:ext cx="1828800" cy="1828800"/>
          </a:xfrm>
          <a:prstGeom prst="ellipse">
            <a:avLst/>
          </a:prstGeom>
          <a:solidFill>
            <a:srgbClr val="F0F0F0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1C1B19"/>
                </a:solidFill>
              </a:defRPr>
            </a:pPr>
            <a:r>
              <a:t>Bさんに貸出</a:t>
            </a:r>
            <a:br/>
            <a:r>
              <a:t>(90円)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52160" y="4389120"/>
            <a:ext cx="731520" cy="36576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66560" y="3657600"/>
            <a:ext cx="1828800" cy="1828800"/>
          </a:xfrm>
          <a:prstGeom prst="ellipse">
            <a:avLst/>
          </a:prstGeom>
          <a:solidFill>
            <a:srgbClr val="F0F0F0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1C1B19"/>
                </a:solidFill>
              </a:defRPr>
            </a:pPr>
            <a:r>
              <a:t>別の預金へ</a:t>
            </a:r>
            <a:br/>
            <a:r>
              <a:t>(90円)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78240" y="4389120"/>
            <a:ext cx="731520" cy="36576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2640" y="3429000"/>
            <a:ext cx="2286000" cy="2286000"/>
          </a:xfrm>
          <a:prstGeom prst="ellipse">
            <a:avLst/>
          </a:prstGeom>
          <a:solidFill>
            <a:srgbClr val="1C1B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世の中のお金</a:t>
            </a:r>
            <a:br/>
            <a:r>
              <a:t>= 190円に！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銀行を挟んで貸し借りを繰り返すだけで、世の中のお金が増える不思議な仕組み。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D0D0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57575"/>
                </a:solidFill>
                <a:latin typeface="Hiragino Sans"/>
              </a:defRPr>
            </a:pPr>
            <a:r>
              <a:t>銀行業界の基礎知識 - 易化版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57575"/>
                </a:solidFill>
                <a:latin typeface="Hiragino Sans"/>
              </a:defRPr>
            </a:pPr>
            <a:r>
              <a:t>信用創造のタネあかし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「データ上のお金」が増えているだけ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77295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実際に現金の札束や硬貨が増えているわけではありません。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通帳の残高に「○○円ありますよ」と記録されることで、お金として使えます。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この仕組みのおかげで、企業は事業を大きくすることができます。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D0D0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57575"/>
                </a:solidFill>
                <a:latin typeface="Hiragino Sans"/>
              </a:defRPr>
            </a:pPr>
            <a:r>
              <a:t>銀行業界の基礎知識 - 易化版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57575"/>
                </a:solidFill>
                <a:latin typeface="Hiragino Sans"/>
              </a:defRPr>
            </a:pPr>
            <a:r>
              <a:t>どうやって儲ける？ (利ざや)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C1B19"/>
                </a:solidFill>
                <a:latin typeface="Hiragino Sans"/>
              </a:defRPr>
            </a:pPr>
            <a:r>
              <a:t>普通の商売と同じ「安く仕入れて、高く売る」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200400"/>
            <a:ext cx="2743200" cy="1828800"/>
          </a:xfrm>
          <a:prstGeom prst="roundRect">
            <a:avLst/>
          </a:prstGeom>
          <a:solidFill>
            <a:srgbClr val="F0F0F0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C1B19"/>
                </a:solidFill>
              </a:defRPr>
            </a:pPr>
            <a:r>
              <a:t>① みんなから預かる</a:t>
            </a:r>
            <a:br/>
            <a:r>
              <a:t>(利息 1円を払う)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3200400"/>
            <a:ext cx="2743200" cy="1828800"/>
          </a:xfrm>
          <a:prstGeom prst="roundRect">
            <a:avLst/>
          </a:prstGeom>
          <a:solidFill>
            <a:srgbClr val="75757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② 企業に貸す</a:t>
            </a:r>
            <a:br/>
            <a:r>
              <a:t>(利息 10円をもらう)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00400"/>
            <a:ext cx="2743200" cy="1828800"/>
          </a:xfrm>
          <a:prstGeom prst="roundRect">
            <a:avLst/>
          </a:prstGeom>
          <a:solidFill>
            <a:srgbClr val="1C1B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③ 銀行の利益</a:t>
            </a:r>
            <a:br/>
            <a:r>
              <a:t>(差額の 9円)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303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スーパーの「安く仕入れて、高く売る」と全く同じ『利ざや』の考え方です。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D0D0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57575"/>
                </a:solidFill>
                <a:latin typeface="Hiragino Sans"/>
              </a:defRPr>
            </a:pPr>
            <a:r>
              <a:t>銀行業界の基礎知識 - 易化版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57575"/>
                </a:solidFill>
                <a:latin typeface="Hiragino Sans"/>
              </a:defRPr>
            </a:pPr>
            <a:r>
              <a:t>他の儲け方 (手数料ビジネス)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利ざや以外にもこんな稼ぎ方があります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77295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振込手数料：お金を送る時にかかる「送料」のようなもの。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ATM手数料：時間外や他行のお引き出しなどで発生するお金。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投資信託・保険：他の金融商品を「代わりに売ってあげる」ことで貰えるお礼。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D0D0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57575"/>
                </a:solidFill>
                <a:latin typeface="Hiragino Sans"/>
              </a:defRPr>
            </a:pPr>
            <a:r>
              <a:t>銀行業界の基礎知識 - 易化版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57575"/>
                </a:solidFill>
                <a:latin typeface="Hiragino Sans"/>
              </a:defRPr>
            </a:pPr>
            <a:r>
              <a:t>銀行のバランスシート (持ち物リスト)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C1B19"/>
                </a:solidFill>
                <a:latin typeface="Hiragino Sans"/>
              </a:defRPr>
            </a:pPr>
            <a:r>
              <a:t>私たちのお金は、銀行にとって『預かりもの』</a:t>
            </a:r>
          </a:p>
        </p:txBody>
      </p:sp>
      <p:sp>
        <p:nvSpPr>
          <p:cNvPr id="7" name="Rectangle 6"/>
          <p:cNvSpPr/>
          <p:nvPr/>
        </p:nvSpPr>
        <p:spPr>
          <a:xfrm>
            <a:off x="1798167" y="3200400"/>
            <a:ext cx="4114800" cy="2743200"/>
          </a:xfrm>
          <a:prstGeom prst="rect">
            <a:avLst/>
          </a:prstGeom>
          <a:solidFill>
            <a:srgbClr val="F0F0F0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C1B19"/>
                </a:solidFill>
              </a:defRPr>
            </a:pPr>
            <a:r>
              <a:t>■ お金の使い道 (資産)</a:t>
            </a:r>
            <a:br/>
            <a:br/>
            <a:r>
              <a:t>企業に貸しているお金など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3200400"/>
            <a:ext cx="4114800" cy="2743200"/>
          </a:xfrm>
          <a:prstGeom prst="rect">
            <a:avLst/>
          </a:prstGeom>
          <a:solidFill>
            <a:srgbClr val="1C1B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■ お金の集め方 (負債)</a:t>
            </a:r>
            <a:br/>
            <a:br/>
            <a:r>
              <a:t>みんなから預かっているお金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647" y="2468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私たちが見ると逆！みんなの「預金」は銀行にとって「借金」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" cy="5394960"/>
          </a:xfrm>
          <a:prstGeom prst="rect">
            <a:avLst/>
          </a:prstGeom>
          <a:solidFill>
            <a:srgbClr val="1C1B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757575"/>
                </a:solidFill>
                <a:latin typeface="Hiragino Sans"/>
              </a:defRPr>
            </a:pPr>
            <a:r>
              <a:t>CHAPTER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C1B19"/>
                </a:solidFill>
                <a:latin typeface="Hiragino Sans"/>
              </a:defRPr>
            </a:pPr>
            <a:r>
              <a:t>銀行業界のリアルな現状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D0D0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57575"/>
                </a:solidFill>
                <a:latin typeface="Hiragino Sans"/>
              </a:defRPr>
            </a:pPr>
            <a:r>
              <a:t>銀行業界の基礎知識 - 易化版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57575"/>
                </a:solidFill>
                <a:latin typeface="Hiragino Sans"/>
              </a:defRPr>
            </a:pPr>
            <a:r>
              <a:t>銀行の仲間たち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C1B19"/>
                </a:solidFill>
                <a:latin typeface="Hiragino Sans"/>
              </a:defRPr>
            </a:pPr>
            <a:r>
              <a:t>目的や規模に合わせていろいろな銀行があります。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2743200" cy="2286000"/>
          </a:xfrm>
          <a:prstGeom prst="roundRect">
            <a:avLst/>
          </a:prstGeom>
          <a:solidFill>
            <a:srgbClr val="1C1B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日本銀行</a:t>
            </a:r>
            <a:br/>
            <a:br/>
            <a:r>
              <a:t>全てのお金の元締め (紙幣を刷る)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743200"/>
            <a:ext cx="2743200" cy="2286000"/>
          </a:xfrm>
          <a:prstGeom prst="roundRect">
            <a:avLst/>
          </a:prstGeom>
          <a:solidFill>
            <a:srgbClr val="F0F0F0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C1B19"/>
                </a:solidFill>
              </a:defRPr>
            </a:pPr>
            <a:r>
              <a:t>メガバンク</a:t>
            </a:r>
            <a:br/>
            <a:br/>
            <a:r>
              <a:t>全国展開・世界相手 (三菱UFJなど)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743200"/>
            <a:ext cx="2743200" cy="2286000"/>
          </a:xfrm>
          <a:prstGeom prst="roundRect">
            <a:avLst/>
          </a:prstGeom>
          <a:solidFill>
            <a:srgbClr val="F0F0F0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C1B19"/>
                </a:solidFill>
              </a:defRPr>
            </a:pPr>
            <a:r>
              <a:t>地方銀行</a:t>
            </a:r>
            <a:br/>
            <a:br/>
            <a:r>
              <a:t>あなたの地元の企業を応援してる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2743200"/>
            <a:ext cx="2743200" cy="2286000"/>
          </a:xfrm>
          <a:prstGeom prst="roundRect">
            <a:avLst/>
          </a:prstGeom>
          <a:solidFill>
            <a:srgbClr val="F0F0F0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C1B19"/>
                </a:solidFill>
              </a:defRPr>
            </a:pPr>
            <a:r>
              <a:t>ネット銀行</a:t>
            </a:r>
            <a:br/>
            <a:br/>
            <a:r>
              <a:t>スマホで完結・店舗がない (楽天など)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D0D0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57575"/>
                </a:solidFill>
                <a:latin typeface="Hiragino Sans"/>
              </a:defRPr>
            </a:pPr>
            <a:r>
              <a:t>銀行業界の基礎知識 - 易化版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57575"/>
                </a:solidFill>
                <a:latin typeface="Hiragino Sans"/>
              </a:defRPr>
            </a:pPr>
            <a:r>
              <a:t>今の銀行の悩み：金利がほぼ0円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「利ざや」が稼げなくて大ピンチ！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77295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今は、お金を借りやすいように「金利」がすごく低く設定されています。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つまり、企業にお金を貸しても「利息（お礼）」がほとんど貰えません。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100万円を1年預けても、チロルチョコ1個買えないほどの低金利時代です。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D0D0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57575"/>
                </a:solidFill>
                <a:latin typeface="Hiragino Sans"/>
              </a:defRPr>
            </a:pPr>
            <a:r>
              <a:t>銀行業界の基礎知識 - 易化版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57575"/>
                </a:solidFill>
                <a:latin typeface="Hiragino Sans"/>
              </a:defRPr>
            </a:pPr>
            <a:r>
              <a:t>地方銀行の「合体」と「統廃合」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生き残りをかけて規模を大きくする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77295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稼ぎにくくなったため、地方の銀行同士が協力・合体するニュースが増えています。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また、人が来ない店舗（支店）を減らして、コストを下げる努力をしています。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" cy="5394960"/>
          </a:xfrm>
          <a:prstGeom prst="rect">
            <a:avLst/>
          </a:prstGeom>
          <a:solidFill>
            <a:srgbClr val="1C1B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757575"/>
                </a:solidFill>
                <a:latin typeface="Hiragino Sans"/>
              </a:defRPr>
            </a:pPr>
            <a:r>
              <a:t>CHAPTER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C1B19"/>
                </a:solidFill>
                <a:latin typeface="Hiragino Sans"/>
              </a:defRPr>
            </a:pPr>
            <a:r>
              <a:t>新しいライバルたちの登場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D0D0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57575"/>
                </a:solidFill>
                <a:latin typeface="Hiragino Sans"/>
              </a:defRPr>
            </a:pPr>
            <a:r>
              <a:t>銀行業界の基礎知識 - 易化版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57575"/>
                </a:solidFill>
                <a:latin typeface="Hiragino Sans"/>
              </a:defRPr>
            </a:pPr>
            <a:r>
              <a:t>スマホ決済の台頭 (PayPayやメルペイ)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銀行に行かなくても支払いができる！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77295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お店で払う時、現金（銀行）を直接触らずにスマホで「ピッ」とするだけ。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お金のやり取りに、銀行という「橋」を通らなくてもよい世界になっています。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D0D0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57575"/>
                </a:solidFill>
                <a:latin typeface="Hiragino Sans"/>
              </a:defRPr>
            </a:pPr>
            <a:r>
              <a:t>銀行業界の基礎知識 - 易化版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57575"/>
                </a:solidFill>
                <a:latin typeface="Hiragino Sans"/>
              </a:defRPr>
            </a:pPr>
            <a:r>
              <a:t>ネット銀行の急成長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「スマホの中にある便利な銀行」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77295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店舗を持たないので、家賃や人件費がかからず、手数料が安いです。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ポイントが貯まりやすかったり、アプリが使いやすかったりします。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D0D0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57575"/>
                </a:solidFill>
                <a:latin typeface="Hiragino Sans"/>
              </a:defRPr>
            </a:pPr>
            <a:r>
              <a:t>銀行業界の基礎知識 - 易化版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57575"/>
                </a:solidFill>
                <a:latin typeface="Hiragino Sans"/>
              </a:defRPr>
            </a:pPr>
            <a:r>
              <a:t>超強力なライバル：IT企業やカフェ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あのAppleやスタバが実質的な銀行に！？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77295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Apple（Apple Cardなど）や、スターバックス（スタバカードへのチャージ）。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みんなが先にお金を預けて使ってくれるので、「銀行のようなこと」ができています。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銀行のライバルは、異業種の大企業になってきています。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" cy="5394960"/>
          </a:xfrm>
          <a:prstGeom prst="rect">
            <a:avLst/>
          </a:prstGeom>
          <a:solidFill>
            <a:srgbClr val="1C1B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757575"/>
                </a:solidFill>
                <a:latin typeface="Hiragino Sans"/>
              </a:defRPr>
            </a:pPr>
            <a: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C1B19"/>
                </a:solidFill>
                <a:latin typeface="Hiragino Sans"/>
              </a:defRPr>
            </a:pPr>
            <a:r>
              <a:t>銀行のこれからの姿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D0D0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57575"/>
                </a:solidFill>
                <a:latin typeface="Hiragino Sans"/>
              </a:defRPr>
            </a:pPr>
            <a:r>
              <a:t>銀行業界の基礎知識 - 易化版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57575"/>
                </a:solidFill>
                <a:latin typeface="Hiragino Sans"/>
              </a:defRPr>
            </a:pPr>
            <a:r>
              <a:t>DX (デジタル化) の推進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紙とハンコからの卒業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77295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「店舗に行って、書類を書いて、ハンコを押す」という昔のやり方を変える。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スマホアプリひとつで全部完結する「超ベンリな銀行」へ進化中です。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D0D0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57575"/>
                </a:solidFill>
                <a:latin typeface="Hiragino Sans"/>
              </a:defRPr>
            </a:pPr>
            <a:r>
              <a:t>銀行業界の基礎知識 - 易化版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57575"/>
                </a:solidFill>
                <a:latin typeface="Hiragino Sans"/>
              </a:defRPr>
            </a:pPr>
            <a:r>
              <a:t>これからのビジネスモデル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「お金を貸すだけ」からの卒業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77295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お金の貸し借りだけでなく、みんなの「生活の悩み」を解決するアドバイザーへ。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他の便利なアプリの「裏側」に、銀行の仕組み・機能だけをこっそり提供します。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D0D0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57575"/>
                </a:solidFill>
                <a:latin typeface="Hiragino Sans"/>
              </a:defRPr>
            </a:pPr>
            <a:r>
              <a:t>銀行業界の基礎知識 - 易化版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57575"/>
                </a:solidFill>
                <a:latin typeface="Hiragino Sans"/>
              </a:defRPr>
            </a:pPr>
            <a:r>
              <a:t>2030年の銀行像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「気づかないうちに銀行を使っている」未来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77295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わざわざ「銀行に行く」という言葉が、死語になるかもしれません。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スマホやスマートウォッチ、生活のあらゆる場面に金融の仕組みが溶け込みます。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" cy="5394960"/>
          </a:xfrm>
          <a:prstGeom prst="rect">
            <a:avLst/>
          </a:prstGeom>
          <a:solidFill>
            <a:srgbClr val="1C1B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757575"/>
                </a:solidFill>
                <a:latin typeface="Hiragino Sans"/>
              </a:defRPr>
            </a:pPr>
            <a:r>
              <a:t>CHAPTER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C1B19"/>
                </a:solidFill>
                <a:latin typeface="Hiragino Sans"/>
              </a:defRPr>
            </a:pPr>
            <a:r>
              <a:t>まとめと問いかけ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D0D0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57575"/>
                </a:solidFill>
                <a:latin typeface="Hiragino Sans"/>
              </a:defRPr>
            </a:pPr>
            <a:r>
              <a:t>銀行業界の基礎知識 - 易化版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C1B19"/>
                </a:solidFill>
                <a:latin typeface="Hiragino Sans"/>
              </a:defRPr>
            </a:pPr>
            <a:r>
              <a:t>今日のまとめ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400"/>
              </a:spcAft>
              <a:defRPr sz="2800">
                <a:solidFill>
                  <a:srgbClr val="1C1B19"/>
                </a:solidFill>
                <a:latin typeface="Hiragino Sans"/>
              </a:defRPr>
            </a:pPr>
            <a:r>
              <a:t>✔ 銀行は、預金・融資・為替を通じて社会にお金を巡らせる「心臓」。</a:t>
            </a:r>
          </a:p>
          <a:p>
            <a:pPr>
              <a:spcAft>
                <a:spcPts val="2400"/>
              </a:spcAft>
              <a:defRPr sz="2800">
                <a:solidFill>
                  <a:srgbClr val="1C1B19"/>
                </a:solidFill>
                <a:latin typeface="Hiragino Sans"/>
              </a:defRPr>
            </a:pPr>
            <a:r>
              <a:t>✔ 「安く仕入れて高く売る」のが基本で、今は金利が低くて大変。</a:t>
            </a:r>
          </a:p>
          <a:p>
            <a:pPr>
              <a:spcAft>
                <a:spcPts val="2400"/>
              </a:spcAft>
              <a:defRPr sz="2800">
                <a:solidFill>
                  <a:srgbClr val="1C1B19"/>
                </a:solidFill>
                <a:latin typeface="Hiragino Sans"/>
              </a:defRPr>
            </a:pPr>
            <a:r>
              <a:t>✔ PayPayやスタバなど、他のサービスとの境界線がなくなりつつある。</a:t>
            </a:r>
          </a:p>
          <a:p>
            <a:pPr>
              <a:spcAft>
                <a:spcPts val="2400"/>
              </a:spcAft>
              <a:defRPr sz="2800">
                <a:solidFill>
                  <a:srgbClr val="1C1B19"/>
                </a:solidFill>
                <a:latin typeface="Hiragino Sans"/>
              </a:defRPr>
            </a:pPr>
            <a:r>
              <a:t>✔ これからはスマホの奥に溶け込む「見えない銀行」へと進化していく。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7295" cy="36576"/>
          </a:xfrm>
          <a:prstGeom prst="rect">
            <a:avLst/>
          </a:prstGeom>
          <a:solidFill>
            <a:srgbClr val="D0D0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57575"/>
                </a:solidFill>
                <a:latin typeface="Hiragino Sans"/>
              </a:defRPr>
            </a:pPr>
            <a:r>
              <a:t>銀行業界の基礎知識 - 易化版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57575"/>
                </a:solidFill>
                <a:latin typeface="Hiragino Sans"/>
              </a:defRPr>
            </a:pPr>
            <a:r>
              <a:t>私たちへの問いかけ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最後にお考えください。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77295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「あなたが一番よく使うお金のアプリ（サービス）は何ですか？」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「その理由は何ですか？（早い、安い、ポイントがつく…）」</a:t>
            </a:r>
          </a:p>
          <a:p>
            <a:pPr>
              <a:spcAft>
                <a:spcPts val="2400"/>
              </a:spcAft>
              <a:defRPr sz="2600">
                <a:solidFill>
                  <a:srgbClr val="1C1B19"/>
                </a:solidFill>
                <a:latin typeface="Hiragino Sans"/>
              </a:defRPr>
            </a:pPr>
            <a:r>
              <a:t>● それを考えることが、これからの金融の未来を知る第一歩です。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