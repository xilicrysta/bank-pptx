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095847" cy="685800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400" b="1">
                <a:solidFill>
                  <a:srgbClr val="FFFFFF"/>
                </a:solidFill>
                <a:latin typeface="Hiragino Sans"/>
              </a:defRPr>
            </a:pPr>
            <a:r>
              <a:t>銀行業界の基礎知識</a:t>
            </a:r>
          </a:p>
          <a:p>
            <a:pPr>
              <a:defRPr sz="2000">
                <a:solidFill>
                  <a:srgbClr val="E6D0A4"/>
                </a:solidFill>
                <a:latin typeface="Hiragino Sans"/>
              </a:defRPr>
            </a:pPr>
            <a:r>
              <a:t>〜 経済の心臓が刻む、信頼と変革の物語 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914400" cy="9144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本日の目次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1. 銀行の本質的役割と定義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2. 銀行の歴史：中世から現代までの変遷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3. 銀行の種類：役割に応じた多様なプレイヤー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4. 3大業務と銀行収益の仕組み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5. 業界を取り巻く現状と直面する課題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6. 未来への展望：DXと新たな金融の形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E6D0A4"/>
                </a:solidFill>
                <a:latin typeface="Hiragino Sans"/>
              </a:defRPr>
            </a:pPr>
            <a:r>
              <a:t>Section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2926080"/>
            <a:ext cx="2438339" cy="18288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  <a:latin typeface="Hiragino Sans"/>
              </a:defRPr>
            </a:pPr>
            <a:r>
              <a:t>銀行の本質的役割と定義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1. 銀行の本質的役割と定義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金融（資金の融通）のプロフェッショナル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・お金が余っている人から、足りない人へ橋渡しを行う。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間接金融の中核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・預金者と借入者の間に銀行が立ち、リスクを負って資金を回す仕組み。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「心臓」としての役割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・お金を血液に見立て、社会の隅々へ送り出すライフライン。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E6D0A4"/>
                </a:solidFill>
                <a:latin typeface="Hiragino Sans"/>
              </a:defRPr>
            </a:pPr>
            <a:r>
              <a:t>Section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2926080"/>
            <a:ext cx="2438339" cy="18288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  <a:latin typeface="Hiragino Sans"/>
              </a:defRPr>
            </a:pPr>
            <a:r>
              <a:t>銀行の歴史：中世から現代までの変遷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2. 銀行の歴史（欧州の起源と近代制度）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ヨーロッパの起源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・中世の両替商や、1694年のイングランド銀行設立が近代銀行の礎に。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日本銀行の設立（1882年）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・松方デフレを経て、通貨の番人としての中央銀行が誕生。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第一国立銀行（1873年）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・渋沢栄一により設立された日本初の民間銀行。殖産興業を支えた。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2. 銀行の歴史（高度成長〜平成再編）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高度経済成長期（1950s-70s）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・旺盛な設備投資を支え、日本を世界第2位の経済大国へ導いた。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バブル崩壊と「失われた30年」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・1990年前後の狂奔と破綻。大規模な金融再編によりメガバンクが誕生。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デジタル変革（2000s-現代）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・インターネットバンキングの普及と、決済の脱銀行化が進展。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E6D0A4"/>
                </a:solidFill>
                <a:latin typeface="Hiragino Sans"/>
              </a:defRPr>
            </a:pPr>
            <a:r>
              <a:t>Section 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2926080"/>
            <a:ext cx="2438339" cy="18288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  <a:latin typeface="Hiragino Sans"/>
              </a:defRPr>
            </a:pPr>
            <a:r>
              <a:t>銀行の種類：役割に応じた多様なプレイヤー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3. 銀行の種類：役割に応じた多様なプレイヤー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日本銀行（中央銀行）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・「銀行の銀行」「政府の銀行」「発券銀行」。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都市銀行（メガバンク）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・三菱UFJ、三井住友、みずほ。巨大な資本力で国・世界を支える。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地方銀行・第二地銀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・「地域密着」。地元企業との信頼関係（リレーションシップ）が命。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3. 銀行の種類（デジタル・専門特化）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ネット銀行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・楽天、住信SBIなど。店舗を持たず利便性と低コストを追求。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信託銀行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・遺言、不動産、年金など「管理」をコアとする専門性。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信用金庫・信用組合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・地域の相互扶助。利益より地域貢献を優先する非営利組織。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E6D0A4"/>
                </a:solidFill>
                <a:latin typeface="Hiragino Sans"/>
              </a:defRPr>
            </a:pPr>
            <a:r>
              <a:t>Section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2926080"/>
            <a:ext cx="2438339" cy="18288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  <a:latin typeface="Hiragino Sans"/>
              </a:defRPr>
            </a:pPr>
            <a:r>
              <a:t>3大業務と銀行収益の仕組み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4. 3大業務と銀行収益の仕組み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1. 預金業務：大切な資産を安全に預かる。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2. 貸出業務：成長を望む企業や個人へ資金を貸し付ける。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・証書貸付、手形割引など。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3. 為替業務：現金を運ばず、安全、迅速に決済を完了させる。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4. 収益の源泉：利ざやと信用創造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「利ざや」の仕組み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・貸出金利（受取）と預金利息（支払）の差額こそが利益。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信用創造機能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・預金と貸出を繰り返すことで、世の日の中の通貨量を増大させる。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・経済を膨らませ、社会の成長を加速させる独自の機能。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E6D0A4"/>
                </a:solidFill>
                <a:latin typeface="Hiragino Sans"/>
              </a:defRPr>
            </a:pPr>
            <a:r>
              <a:t>Section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2926080"/>
            <a:ext cx="2438339" cy="18288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  <a:latin typeface="Hiragino Sans"/>
              </a:defRPr>
            </a:pPr>
            <a:r>
              <a:t>業界を取り巻く現状と直面する課題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5. 業界を取り巻く現状と直面する課題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超低金利環境の長期化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・利ざやの縮小により、旧来の預貸モデルの限界が露呈。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プラットフォーマーとの競争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・PayPayや楽天ポイントなど、銀行を通さない経済圏の拡大。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更なる代替手段の脅威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・ステーブルコインや中央銀行デジタル通貨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E6D0A4"/>
                </a:solidFill>
                <a:latin typeface="Hiragino Sans"/>
              </a:defRPr>
            </a:pPr>
            <a:r>
              <a:t>Section 06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8" y="2926080"/>
            <a:ext cx="2438339" cy="18288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  <a:latin typeface="Hiragino Sans"/>
              </a:defRPr>
            </a:pPr>
            <a:r>
              <a:t>未来への展望：DXと新たな金融の形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6. 未来への展望：DXと新たな金融の形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バンキング・アズ・ア・サービス(BaaS)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・金融機能をパーツとして他業種に提供するプラットフォーム化。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融合するテクノロジー：Olive、デジタル通貨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・銀行口座と決済アプリの完全統合。さらにCBDC（デジタル円）の可能性。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■ コンサルタントへの進化</a:t>
            </a:r>
          </a:p>
          <a:p>
            <a:pPr lvl="1"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・「金貸し」から、顧客の経営課題を解決するパートナーへ。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まとめ：信頼を基盤に、未来を創る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・銀行は社会の「心臓」であり、血液（資金）を循環させる責務がある。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・伝統的なモデルからの脱却と、デジタルとの融合が不可避である。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・「信頼」という最大の無形資産を、どうテックと掛け合わせるか。</a:t>
            </a:r>
          </a:p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・本日の学びが、金融の未来を考えるきっかけになれば幸いです。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9144"/>
          </a:xfrm>
          <a:prstGeom prst="rect">
            <a:avLst/>
          </a:prstGeom>
          <a:solidFill>
            <a:srgbClr val="143D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43D98"/>
                </a:solidFill>
                <a:latin typeface="Hiragino Sans"/>
              </a:defRPr>
            </a:pPr>
            <a:r>
              <a:t>参考一覧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6D0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  <a:p>
            <a:pPr>
              <a:spcAft>
                <a:spcPts val="2400"/>
              </a:spcAft>
              <a:defRPr sz="2200">
                <a:solidFill>
                  <a:srgbClr val="333333"/>
                </a:solidFill>
                <a:latin typeface="Hiragino Sans"/>
              </a:defRPr>
            </a:pPr>
            <a:r>
              <a:t>（ここに参考資料・Webサイトのリンク等を追記）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