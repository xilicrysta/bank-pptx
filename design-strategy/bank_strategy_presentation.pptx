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C1B19"/>
                </a:solidFill>
                <a:latin typeface="Hiragino Sans"/>
              </a:defRPr>
            </a:pPr>
            <a:r>
              <a:t>銀行業界の基礎知識</a:t>
            </a:r>
          </a:p>
          <a:p>
            <a:pPr algn="ctr">
              <a:defRPr sz="2400">
                <a:solidFill>
                  <a:srgbClr val="828282"/>
                </a:solidFill>
                <a:latin typeface="Hiragino Sans"/>
              </a:defRPr>
            </a:pPr>
            <a:r>
              <a:t>〜 戦略・ビジネスモデル・未来への展望 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114800"/>
            <a:ext cx="2103120" cy="137160"/>
          </a:xfrm>
          <a:prstGeom prst="rect">
            <a:avLst/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導入：定義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銀行とは、一言で言えば</a:t>
            </a:r>
            <a:br/>
            <a:r>
              <a:t>「信用というインフラを管理する装置」である。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余剰資金（預金）を必要箇所（融資）へ分配する。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社会の決済システム（為替）を維持する。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経済活動の根幹を支える『信頼の仲介者』である。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導入：アジェンダ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本日の論点：銀行ビジネスの本質と未来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Section 01: 1. 銀行の歴史（合併・再編）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Section 02: 2. 銀行の新たなビジネスモデル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Section 03: 3. 銀行業界の現状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Section 04: 4. 競合・新たな脅威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Section 05: 5. 銀行の将来・今後の展望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F9D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9D13E"/>
                </a:solidFill>
                <a:latin typeface="Hiragino Sans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C1B19"/>
                </a:solidFill>
                <a:latin typeface="Hiragino Sans"/>
              </a:defRPr>
            </a:pPr>
            <a:r>
              <a:t>銀行の歴史（合併・再編）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Hiragino Sans"/>
              </a:defRPr>
            </a:pPr>
            <a:r>
              <a:t>激動の平成：13の都市銀行が『3大メガバンク』へ集約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solidFill>
            <a:srgbClr val="828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旧財閥・大型店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2743200" cy="457200"/>
          </a:xfrm>
          <a:prstGeom prst="rect">
            <a:avLst/>
          </a:prstGeom>
          <a:solidFill>
            <a:srgbClr val="828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合併・統合の流れ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828800"/>
            <a:ext cx="2743200" cy="457200"/>
          </a:xfrm>
          <a:prstGeom prst="rect">
            <a:avLst/>
          </a:prstGeom>
          <a:solidFill>
            <a:srgbClr val="828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現3大メガバンク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743200"/>
            <a:ext cx="3200400" cy="731520"/>
          </a:xfrm>
          <a:prstGeom prst="roundRect">
            <a:avLst/>
          </a:prstGeom>
          <a:solidFill>
            <a:srgbClr val="828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第一勧銀・富士・日本興業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2926080"/>
            <a:ext cx="914400" cy="365760"/>
          </a:xfrm>
          <a:prstGeom prst="rightArrow">
            <a:avLst/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2743200"/>
            <a:ext cx="3200400" cy="731520"/>
          </a:xfrm>
          <a:prstGeom prst="roundRect">
            <a:avLst/>
          </a:prstGeom>
          <a:solidFill>
            <a:srgbClr val="303F9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みずほFG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840480"/>
            <a:ext cx="3200400" cy="731520"/>
          </a:xfrm>
          <a:prstGeom prst="roundRect">
            <a:avLst/>
          </a:prstGeom>
          <a:solidFill>
            <a:srgbClr val="828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三菱・東京・UFJ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4023360"/>
            <a:ext cx="914400" cy="365760"/>
          </a:xfrm>
          <a:prstGeom prst="rightArrow">
            <a:avLst/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0" y="3840480"/>
            <a:ext cx="3200400" cy="731520"/>
          </a:xfrm>
          <a:prstGeom prst="roundRect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三菱UFJ FG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937760"/>
            <a:ext cx="3200400" cy="731520"/>
          </a:xfrm>
          <a:prstGeom prst="roundRect">
            <a:avLst/>
          </a:prstGeom>
          <a:solidFill>
            <a:srgbClr val="828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住友・さくら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86400" y="5120640"/>
            <a:ext cx="914400" cy="365760"/>
          </a:xfrm>
          <a:prstGeom prst="rightArrow">
            <a:avLst/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4937760"/>
            <a:ext cx="3200400" cy="731520"/>
          </a:xfrm>
          <a:prstGeom prst="roundRect">
            <a:avLst/>
          </a:prstGeom>
          <a:solidFill>
            <a:srgbClr val="388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三井住友 FG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F9D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9D13E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C1B19"/>
                </a:solidFill>
                <a:latin typeface="Hiragino Sans"/>
              </a:defRPr>
            </a:pPr>
            <a:r>
              <a:t>銀行の新たなビジネスモデル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三大業務：預金・融資・為替の相乗効果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預金：安全な保管と引き出しの自由を保証する。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融資：預かった資金を成長期待の高い企業へ提供する。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為替：現金を運ぶリスクを排除し、デジタル上で決済する。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信用創造：銀行だけが持つ『魔法の仕組み』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銀行は、預かった現金以上の『預金通貨』を創り出せる。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企業への融資が新たな預金となり、市場の通貨量が増大する。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これが資本主義経済における成長の起爆剤となる。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Hiragino Sans"/>
              </a:defRPr>
            </a:pPr>
            <a:r>
              <a:t>【図解】信用創造：100万円が倍以上に増えていくプロセス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2011680" cy="2011680"/>
          </a:xfrm>
          <a:prstGeom prst="rect">
            <a:avLst/>
          </a:prstGeom>
          <a:solidFill>
            <a:srgbClr val="828282"/>
          </a:solidFill>
          <a:ln w="254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C1B19"/>
                </a:solidFill>
              </a:defRPr>
            </a:pPr>
            <a:r>
              <a:t>A銀行への預金</a:t>
            </a:r>
            <a:br/>
            <a:r>
              <a:t>(100万円)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39481106400" y="3566160"/>
            <a:ext cx="365760" cy="365760"/>
          </a:xfrm>
          <a:prstGeom prst="rightArrow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73932050400" y="2743200"/>
            <a:ext cx="2011680" cy="2011680"/>
          </a:xfrm>
          <a:prstGeom prst="rect">
            <a:avLst/>
          </a:prstGeom>
          <a:solidFill>
            <a:srgbClr val="828282"/>
          </a:solidFill>
          <a:ln w="254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C1B19"/>
                </a:solidFill>
              </a:defRPr>
            </a:pPr>
            <a:r>
              <a:t>B社への貸出</a:t>
            </a:r>
            <a:br/>
            <a:r>
              <a:t>(90万円)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13412242400" y="3566160"/>
            <a:ext cx="365760" cy="365760"/>
          </a:xfrm>
          <a:prstGeom prst="rightArrow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7863186400" y="2743200"/>
            <a:ext cx="2011680" cy="2011680"/>
          </a:xfrm>
          <a:prstGeom prst="rect">
            <a:avLst/>
          </a:prstGeom>
          <a:solidFill>
            <a:srgbClr val="828282"/>
          </a:solidFill>
          <a:ln w="254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C1B19"/>
                </a:solidFill>
              </a:defRPr>
            </a:pPr>
            <a:r>
              <a:t>C銀行への預金</a:t>
            </a:r>
            <a:br/>
            <a:r>
              <a:t>(90万円)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87343378400" y="3566160"/>
            <a:ext cx="365760" cy="365760"/>
          </a:xfrm>
          <a:prstGeom prst="rightArrow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21794322400" y="2743200"/>
            <a:ext cx="2011680" cy="2011680"/>
          </a:xfrm>
          <a:prstGeom prst="ellipse">
            <a:avLst/>
          </a:prstGeom>
          <a:solidFill>
            <a:srgbClr val="F9D13E"/>
          </a:solidFill>
          <a:ln w="254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C1B19"/>
                </a:solidFill>
              </a:defRPr>
            </a:pPr>
            <a:r>
              <a:t>世の中のお金</a:t>
            </a:r>
            <a:br/>
            <a:r>
              <a:t>= 190万円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収益モデル①：利ざや（預貸利ざや）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最も伝統的な収益源。資金の調達コストと運用利回りの差。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預金者に支払う利息よりも、高い利息で企業に貸し出す。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この『サヤ』で人件費やシステム維持費を賄う。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Hiragino Sans"/>
              </a:defRPr>
            </a:pPr>
            <a:r>
              <a:t>【図解】利ざや：金利の『サヤ』が銀行の利益になる構造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1828800" cy="365760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貸出利回り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4572000"/>
            <a:ext cx="1828800" cy="914400"/>
          </a:xfrm>
          <a:prstGeom prst="rect">
            <a:avLst/>
          </a:prstGeom>
          <a:solidFill>
            <a:srgbClr val="828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預金利息</a:t>
            </a:r>
          </a:p>
        </p:txBody>
      </p:sp>
      <p:sp>
        <p:nvSpPr>
          <p:cNvPr id="7" name="Left Brace 6"/>
          <p:cNvSpPr/>
          <p:nvPr/>
        </p:nvSpPr>
        <p:spPr>
          <a:xfrm rot="10800000">
            <a:off x="8229600" y="1828800"/>
            <a:ext cx="457200" cy="2743200"/>
          </a:xfrm>
          <a:prstGeom prst="leftBr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3200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1C1B19"/>
                </a:solidFill>
              </a:defRPr>
            </a:pPr>
            <a:r>
              <a:t>この差が「利ざや」</a:t>
            </a:r>
            <a:br/>
            <a:r>
              <a:t>(収益の源泉)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収益モデル②：収益の多様化（Fee Business）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金利低下に対抗するため、手数料（Fee）収入を拡大。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投資信託や保険の販売仲介手数料。M&amp;Aや証券化のアドバイザリー。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ソリューション提供による付加価値の獲得。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Hiragino Sans"/>
              </a:defRPr>
            </a:pPr>
            <a:r>
              <a:t>【比較】特殊なバランスシート：預金は『負債』である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647" y="1828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銀行のB/S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647" y="2286000"/>
            <a:ext cx="2286000" cy="3657600"/>
          </a:xfrm>
          <a:prstGeom prst="rect">
            <a:avLst/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資産</a:t>
            </a:r>
            <a:br/>
            <a:br/>
            <a:r>
              <a:t>(貸付金など)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2647" y="2286000"/>
            <a:ext cx="2286000" cy="3291840"/>
          </a:xfrm>
          <a:prstGeom prst="rect">
            <a:avLst/>
          </a:prstGeom>
          <a:solidFill>
            <a:srgbClr val="8282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負債</a:t>
            </a:r>
            <a:br/>
            <a:br/>
            <a:r>
              <a:t>(預金など)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2647" y="5577840"/>
            <a:ext cx="2286000" cy="365760"/>
          </a:xfrm>
          <a:prstGeom prst="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純資産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847" y="4114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0000"/>
                </a:solidFill>
              </a:defRPr>
            </a:pPr>
            <a:r>
              <a:t>★預金は「預かりもの」</a:t>
            </a:r>
            <a:br/>
            <a:r>
              <a:t>であり負債となる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F9D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9D13E"/>
                </a:solidFill>
                <a:latin typeface="Hiragino Sans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C1B19"/>
                </a:solidFill>
                <a:latin typeface="Hiragino Sans"/>
              </a:defRPr>
            </a:pPr>
            <a:r>
              <a:t>銀行業界の現状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1B19"/>
                </a:solidFill>
                <a:latin typeface="Hiragino Sans"/>
              </a:defRPr>
            </a:pPr>
            <a:r>
              <a:t>国内銀行業界マップ：役割と規模に応じた階層構造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743200" cy="731520"/>
          </a:xfrm>
          <a:prstGeom prst="roundRect">
            <a:avLst/>
          </a:prstGeom>
          <a:solidFill>
            <a:srgbClr val="1C1B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中央銀行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011680"/>
            <a:ext cx="6858000" cy="731520"/>
          </a:xfrm>
          <a:prstGeom prst="rect">
            <a:avLst/>
          </a:prstGeom>
          <a:noFill/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>
                <a:solidFill>
                  <a:srgbClr val="1C1B19"/>
                </a:solidFill>
              </a:defRPr>
            </a:pPr>
            <a:r>
              <a:t>日本銀行 (唯一無二)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108960"/>
            <a:ext cx="2743200" cy="731520"/>
          </a:xfrm>
          <a:prstGeom prst="roundRect">
            <a:avLst/>
          </a:prstGeom>
          <a:solidFill>
            <a:srgbClr val="1565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都市銀行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108960"/>
            <a:ext cx="6858000" cy="731520"/>
          </a:xfrm>
          <a:prstGeom prst="rect">
            <a:avLst/>
          </a:prstGeom>
          <a:noFill/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>
                <a:solidFill>
                  <a:srgbClr val="1C1B19"/>
                </a:solidFill>
              </a:defRPr>
            </a:pPr>
            <a:r>
              <a:t>メガバンク (全国・海外展開)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06240"/>
            <a:ext cx="2743200" cy="731520"/>
          </a:xfrm>
          <a:prstGeom prst="roundRect">
            <a:avLst/>
          </a:prstGeom>
          <a:solidFill>
            <a:srgbClr val="2E7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地方銀行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206240"/>
            <a:ext cx="6858000" cy="731520"/>
          </a:xfrm>
          <a:prstGeom prst="rect">
            <a:avLst/>
          </a:prstGeom>
          <a:noFill/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>
                <a:solidFill>
                  <a:srgbClr val="1C1B19"/>
                </a:solidFill>
              </a:defRPr>
            </a:pPr>
            <a:r>
              <a:t>地域密着型 (地元経済の要)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03520"/>
            <a:ext cx="2743200" cy="731520"/>
          </a:xfrm>
          <a:prstGeom prst="roundRect">
            <a:avLst/>
          </a:prstGeom>
          <a:solidFill>
            <a:srgbClr val="EF6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ネット銀行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5303520"/>
            <a:ext cx="6858000" cy="731520"/>
          </a:xfrm>
          <a:prstGeom prst="rect">
            <a:avLst/>
          </a:prstGeom>
          <a:noFill/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>
                <a:solidFill>
                  <a:srgbClr val="1C1B19"/>
                </a:solidFill>
              </a:defRPr>
            </a:pPr>
            <a:r>
              <a:t>利便性・低コスト追求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マイナス金利環境の衝撃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長引く超低金利政策により、伝統的な利ざやが極限まで縮小。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『預けておけば儲かる』モデルが崩壊。地方銀行を中心に危機感。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不採算店舗の削減や、デジタルによるコスト構造改革が急務。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F9D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9D13E"/>
                </a:solidFill>
                <a:latin typeface="Hiragino Sans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C1B19"/>
                </a:solidFill>
                <a:latin typeface="Hiragino Sans"/>
              </a:defRPr>
            </a:pPr>
            <a:r>
              <a:t>競合・新たな脅威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フィンテックの台頭と決済の脱銀行化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スマートフォン決済の急速な普及。銀行口座が『隠れたインフラ』へ。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プラットフォーマー（PayPay、楽天など）による顧客接点の占有。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レンディング（融資）領域へのAI・データ活用型企業の参入。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異業種参入：Embedded Finance（組み込み金融）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『銀行に行く』という行為の消失。あらゆるサービスに金融が溶け込む。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スターバックスやAppleが、実質的な金融機能を提供。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伝統的銀行から顧客（データと接点）が奪われる『中抜き』の発生。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F9D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9D13E"/>
                </a:solidFill>
                <a:latin typeface="Hiragino Sans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C1B19"/>
                </a:solidFill>
                <a:latin typeface="Hiragino Sans"/>
              </a:defRPr>
            </a:pPr>
            <a:r>
              <a:t>銀行の将来・今後の展望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DXの本質：デジタルによる価値の再定義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単なるネットバンキング化ではなく、UI/UXの極致を追求。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蓄積されたビッグデータを活用した、高度な与信とコンサルティング。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顧客のライフステージに合わせたシームレスな解決策の提案。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BaaS (Banking as a Service) への転換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銀行自らフロントに立つのではなく、インフラ機能を外部に提供。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他業種と連携し、金融機能を部品化（API化）して提供する。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プラットフォームとしての生き残り戦略。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2030年代の銀行像：Invisible 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『銀行』という看板が必要なくなる未来。生活に金融が溶け込む。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AIによる完全自動の資産運用とアドバイザリー。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社会の信頼インフラとして、データの安全性と流動性を担保する存在。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F9D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C1B19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400"/>
              </a:spcAft>
              <a:defRPr sz="2800">
                <a:solidFill>
                  <a:srgbClr val="1C1B19"/>
                </a:solidFill>
              </a:defRPr>
            </a:pPr>
            <a:r>
              <a:t>✔ 銀行は『信用創造』という独自機能を持ち、経済を支える心臓である。</a:t>
            </a:r>
          </a:p>
          <a:p>
            <a:pPr>
              <a:spcAft>
                <a:spcPts val="2400"/>
              </a:spcAft>
              <a:defRPr sz="2800">
                <a:solidFill>
                  <a:srgbClr val="1C1B19"/>
                </a:solidFill>
              </a:defRPr>
            </a:pPr>
            <a:r>
              <a:t>✔ 伝統的な利ざやモデルから、デジタル・手数料ベースへの転換期にある。</a:t>
            </a:r>
          </a:p>
          <a:p>
            <a:pPr>
              <a:spcAft>
                <a:spcPts val="2400"/>
              </a:spcAft>
              <a:defRPr sz="2800">
                <a:solidFill>
                  <a:srgbClr val="1C1B19"/>
                </a:solidFill>
              </a:defRPr>
            </a:pPr>
            <a:r>
              <a:t>✔ BaaSやEmbedded Financeにより、銀行の境界線が曖昧になっている。</a:t>
            </a:r>
          </a:p>
          <a:p>
            <a:pPr>
              <a:spcAft>
                <a:spcPts val="2400"/>
              </a:spcAft>
              <a:defRPr sz="2800">
                <a:solidFill>
                  <a:srgbClr val="1C1B19"/>
                </a:solidFill>
              </a:defRPr>
            </a:pPr>
            <a:r>
              <a:t>✔ 2030年に向け、『見えない信頼インフラ』としての進化が求められる。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825935" cy="6492240"/>
          </a:xfrm>
          <a:prstGeom prst="roundRect">
            <a:avLst>
              <a:gd name="adj" fmla="val 2000"/>
            </a:avLst>
          </a:prstGeom>
          <a:noFill/>
          <a:ln w="50800">
            <a:solidFill>
              <a:srgbClr val="1C1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9D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1B19"/>
                </a:solidFill>
                <a:latin typeface="Hiragino Sans"/>
              </a:defRPr>
            </a:pPr>
            <a:r>
              <a:t>参考資料・サイト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C1B19"/>
                </a:solidFill>
                <a:latin typeface="Hiragino Sans"/>
              </a:defRPr>
            </a:pPr>
            <a:r>
              <a:t>（以下、具体的なソースを追記予定）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3200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全国銀行協会 統計データ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金融庁：金融レポート</a:t>
            </a:r>
          </a:p>
          <a:p>
            <a:pPr>
              <a:spcAft>
                <a:spcPts val="2000"/>
              </a:spcAft>
              <a:defRPr sz="2400">
                <a:solidFill>
                  <a:srgbClr val="1C1B19"/>
                </a:solidFill>
                <a:latin typeface="Hiragino Sans"/>
              </a:defRPr>
            </a:pPr>
            <a:r>
              <a:t>• 日本銀行：金融経済統計月報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