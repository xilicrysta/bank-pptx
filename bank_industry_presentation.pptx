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ver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6095847" cy="6858000"/>
          </a:xfrm>
          <a:prstGeom prst="rect">
            <a:avLst/>
          </a:prstGeom>
          <a:solidFill>
            <a:srgbClr val="143D9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0"/>
            <a:ext cx="10972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4400" b="1">
                <a:solidFill>
                  <a:srgbClr val="FEFEFE"/>
                </a:solidFill>
                <a:latin typeface="Hiragino Sans"/>
              </a:defRPr>
            </a:pPr>
            <a:r>
              <a:t>銀行業界の基礎知識</a:t>
            </a:r>
          </a:p>
          <a:p>
            <a:pPr>
              <a:defRPr sz="2000">
                <a:solidFill>
                  <a:srgbClr val="E6D0A4"/>
                </a:solidFill>
                <a:latin typeface="Hiragino Sans"/>
              </a:defRPr>
            </a:pPr>
            <a:r>
              <a:t>〜 経済の心臓が刻む、信頼と変革の物語 〜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371600"/>
            <a:ext cx="914400" cy="91440"/>
          </a:xfrm>
          <a:prstGeom prst="rect">
            <a:avLst/>
          </a:prstGeom>
          <a:solidFill>
            <a:srgbClr val="E6D0A4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EFE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143D9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6492240"/>
            <a:ext cx="11277295" cy="9144"/>
          </a:xfrm>
          <a:prstGeom prst="rect">
            <a:avLst/>
          </a:prstGeom>
          <a:solidFill>
            <a:srgbClr val="143D9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6576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143D98"/>
                </a:solidFill>
                <a:latin typeface="Hiragino Sans"/>
              </a:defRPr>
            </a:pPr>
            <a:r>
              <a:t>本日の目次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1371600" cy="45720"/>
          </a:xfrm>
          <a:prstGeom prst="rect">
            <a:avLst/>
          </a:prstGeom>
          <a:solidFill>
            <a:srgbClr val="E6D0A4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463040"/>
            <a:ext cx="10728655" cy="4754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/>
          <a:p>
            <a:pPr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1. 銀行の本質的役割と定義</a:t>
            </a:r>
          </a:p>
          <a:p>
            <a:pPr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2. 銀行の歴史：中世から現代までの変遷</a:t>
            </a:r>
          </a:p>
          <a:p>
            <a:pPr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3. 銀行の種類：役割に応じた多様なプレイヤー</a:t>
            </a:r>
          </a:p>
          <a:p>
            <a:pPr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4. 3大業務と銀行収益の仕組み</a:t>
            </a:r>
          </a:p>
          <a:p>
            <a:pPr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5. 業界を取り巻く現状と直面する課題</a:t>
            </a:r>
          </a:p>
          <a:p>
            <a:pPr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6. 未来への展望：DXと新たな金融の形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3D9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2011680"/>
            <a:ext cx="121916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ctr">
              <a:defRPr sz="2800">
                <a:solidFill>
                  <a:srgbClr val="E6D0A4"/>
                </a:solidFill>
                <a:latin typeface="Hiragino Sans"/>
              </a:defRPr>
            </a:pPr>
            <a:r>
              <a:t>Section 01</a:t>
            </a:r>
          </a:p>
        </p:txBody>
      </p:sp>
      <p:sp>
        <p:nvSpPr>
          <p:cNvPr id="4" name="Rectangle 3"/>
          <p:cNvSpPr/>
          <p:nvPr/>
        </p:nvSpPr>
        <p:spPr>
          <a:xfrm>
            <a:off x="4876678" y="2926080"/>
            <a:ext cx="2438339" cy="18288"/>
          </a:xfrm>
          <a:prstGeom prst="rect">
            <a:avLst/>
          </a:prstGeom>
          <a:solidFill>
            <a:srgbClr val="E6D0A4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0" y="3291840"/>
            <a:ext cx="12191695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ctr">
              <a:defRPr sz="4000" b="1">
                <a:solidFill>
                  <a:srgbClr val="FEFEFE"/>
                </a:solidFill>
                <a:latin typeface="Hiragino Sans"/>
              </a:defRPr>
            </a:pPr>
            <a:r>
              <a:t>1. 銀行の本質的役割と定義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EFE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143D9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6492240"/>
            <a:ext cx="11277295" cy="9144"/>
          </a:xfrm>
          <a:prstGeom prst="rect">
            <a:avLst/>
          </a:prstGeom>
          <a:solidFill>
            <a:srgbClr val="143D9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6576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143D98"/>
                </a:solidFill>
                <a:latin typeface="Hiragino Sans"/>
              </a:defRPr>
            </a:pPr>
            <a:r>
              <a:t>1. 銀行の本質的役割と定義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1371600" cy="45720"/>
          </a:xfrm>
          <a:prstGeom prst="rect">
            <a:avLst/>
          </a:prstGeom>
          <a:solidFill>
            <a:srgbClr val="E6D0A4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463040"/>
            <a:ext cx="10728655" cy="4754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/>
          <a:p>
            <a:pPr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■ 金融（資金の融通）のプロフェッショナル</a:t>
            </a:r>
          </a:p>
          <a:p>
            <a:pPr lvl="1"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・お金が余っている人から、足りない人へ橋渡しを行う。</a:t>
            </a:r>
          </a:p>
          <a:p>
            <a:pPr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■ 間接金融の中核</a:t>
            </a:r>
          </a:p>
          <a:p>
            <a:pPr lvl="1"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・預金者と借入者の間に銀行が立ち、リスクを負って資金を回す仕組み。</a:t>
            </a:r>
          </a:p>
          <a:p>
            <a:pPr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■ 「心臓」としての役割</a:t>
            </a:r>
          </a:p>
          <a:p>
            <a:pPr lvl="1"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・お金を血液に見立て、社会の隅々へ送り出すライフライン。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3D9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2011680"/>
            <a:ext cx="121916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ctr">
              <a:defRPr sz="2800">
                <a:solidFill>
                  <a:srgbClr val="E6D0A4"/>
                </a:solidFill>
                <a:latin typeface="Hiragino Sans"/>
              </a:defRPr>
            </a:pPr>
            <a:r>
              <a:t>Section 02</a:t>
            </a:r>
          </a:p>
        </p:txBody>
      </p:sp>
      <p:sp>
        <p:nvSpPr>
          <p:cNvPr id="4" name="Rectangle 3"/>
          <p:cNvSpPr/>
          <p:nvPr/>
        </p:nvSpPr>
        <p:spPr>
          <a:xfrm>
            <a:off x="4876678" y="2926080"/>
            <a:ext cx="2438339" cy="18288"/>
          </a:xfrm>
          <a:prstGeom prst="rect">
            <a:avLst/>
          </a:prstGeom>
          <a:solidFill>
            <a:srgbClr val="E6D0A4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0" y="3291840"/>
            <a:ext cx="12191695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ctr">
              <a:defRPr sz="4000" b="1">
                <a:solidFill>
                  <a:srgbClr val="FEFEFE"/>
                </a:solidFill>
                <a:latin typeface="Hiragino Sans"/>
              </a:defRPr>
            </a:pPr>
            <a:r>
              <a:t>2. 銀行の歴史：中世から現代までの変遷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EFE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143D9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6492240"/>
            <a:ext cx="11277295" cy="9144"/>
          </a:xfrm>
          <a:prstGeom prst="rect">
            <a:avLst/>
          </a:prstGeom>
          <a:solidFill>
            <a:srgbClr val="143D9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6576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143D98"/>
                </a:solidFill>
                <a:latin typeface="Hiragino Sans"/>
              </a:defRPr>
            </a:pPr>
            <a:r>
              <a:t>2. 銀行の歴史：中世から現代までの変遷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1371600" cy="45720"/>
          </a:xfrm>
          <a:prstGeom prst="rect">
            <a:avLst/>
          </a:prstGeom>
          <a:solidFill>
            <a:srgbClr val="E6D0A4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463040"/>
            <a:ext cx="10728655" cy="4754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/>
          <a:p>
            <a:pPr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■ ヨーロッパの起源</a:t>
            </a:r>
          </a:p>
          <a:p>
            <a:pPr lvl="1"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・中世、金細工師（ゴールドスミス）が金を預かった「預かり証」が紙幣の原型に。</a:t>
            </a:r>
          </a:p>
          <a:p>
            <a:pPr lvl="1"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・利息を取ることが禁忌とされていた時代、ユダヤ人が金融の先駆者となった。</a:t>
            </a:r>
          </a:p>
          <a:p>
            <a:pPr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■ 信頼のシステム化</a:t>
            </a:r>
          </a:p>
          <a:p>
            <a:pPr lvl="1"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・個人の信用から、組織・制度としての信用への転換。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EFE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143D9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6492240"/>
            <a:ext cx="11277295" cy="9144"/>
          </a:xfrm>
          <a:prstGeom prst="rect">
            <a:avLst/>
          </a:prstGeom>
          <a:solidFill>
            <a:srgbClr val="143D9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6576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143D98"/>
                </a:solidFill>
                <a:latin typeface="Hiragino Sans"/>
              </a:defRPr>
            </a:pPr>
            <a:r>
              <a:t>2. 銀行の歴史（日本における成立）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1371600" cy="45720"/>
          </a:xfrm>
          <a:prstGeom prst="rect">
            <a:avLst/>
          </a:prstGeom>
          <a:solidFill>
            <a:srgbClr val="E6D0A4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463040"/>
            <a:ext cx="10728655" cy="4754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/>
          <a:p>
            <a:pPr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■ 日本銀行の設立</a:t>
            </a:r>
          </a:p>
          <a:p>
            <a:pPr lvl="1"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・1882年（明治15年）、中央銀行として日本銀行が誕生。</a:t>
            </a:r>
          </a:p>
          <a:p>
            <a:pPr lvl="1"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・インフレの抑制と通貨価値の安定という重大な使命。</a:t>
            </a:r>
          </a:p>
          <a:p>
            <a:pPr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■ 殖産興業と金融</a:t>
            </a:r>
          </a:p>
          <a:p>
            <a:pPr lvl="1"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・明治の近代化政策を支えるため、多くの国立銀行（後の民間銀行）も設立された。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EFE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143D9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6492240"/>
            <a:ext cx="11277295" cy="9144"/>
          </a:xfrm>
          <a:prstGeom prst="rect">
            <a:avLst/>
          </a:prstGeom>
          <a:solidFill>
            <a:srgbClr val="143D9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6576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143D98"/>
                </a:solidFill>
                <a:latin typeface="Hiragino Sans"/>
              </a:defRPr>
            </a:pPr>
            <a:r>
              <a:t>2. 銀行の歴史（高度成長〜平成再編）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1371600" cy="45720"/>
          </a:xfrm>
          <a:prstGeom prst="rect">
            <a:avLst/>
          </a:prstGeom>
          <a:solidFill>
            <a:srgbClr val="E6D0A4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463040"/>
            <a:ext cx="10728655" cy="4754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/>
          <a:p>
            <a:pPr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■ 高度経済成長期</a:t>
            </a:r>
          </a:p>
          <a:p>
            <a:pPr lvl="1"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・長期信用銀行（長銀）などが設備投資を支え、奇跡の成長を支えた。</a:t>
            </a:r>
          </a:p>
          <a:p>
            <a:pPr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■ バブルの狂奔と崩壊</a:t>
            </a:r>
          </a:p>
          <a:p>
            <a:pPr lvl="1"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・過剰融資による不良債権問題。長銀や住専の破綻と国有化。</a:t>
            </a:r>
          </a:p>
          <a:p>
            <a:pPr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■ 平成から令和へ</a:t>
            </a:r>
          </a:p>
          <a:p>
            <a:pPr lvl="1"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・金融ビッグバンを経て、大規模な合併（メガバンク誕生）へ。</a:t>
            </a:r>
          </a:p>
          <a:p>
            <a:pPr lvl="1"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・異業種参入と持ち株会社制の解禁。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3D9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2011680"/>
            <a:ext cx="121916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ctr">
              <a:defRPr sz="2800">
                <a:solidFill>
                  <a:srgbClr val="E6D0A4"/>
                </a:solidFill>
                <a:latin typeface="Hiragino Sans"/>
              </a:defRPr>
            </a:pPr>
            <a:r>
              <a:t>Section 03</a:t>
            </a:r>
          </a:p>
        </p:txBody>
      </p:sp>
      <p:sp>
        <p:nvSpPr>
          <p:cNvPr id="4" name="Rectangle 3"/>
          <p:cNvSpPr/>
          <p:nvPr/>
        </p:nvSpPr>
        <p:spPr>
          <a:xfrm>
            <a:off x="4876678" y="2926080"/>
            <a:ext cx="2438339" cy="18288"/>
          </a:xfrm>
          <a:prstGeom prst="rect">
            <a:avLst/>
          </a:prstGeom>
          <a:solidFill>
            <a:srgbClr val="E6D0A4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0" y="3291840"/>
            <a:ext cx="12191695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ctr">
              <a:defRPr sz="4000" b="1">
                <a:solidFill>
                  <a:srgbClr val="FEFEFE"/>
                </a:solidFill>
                <a:latin typeface="Hiragino Sans"/>
              </a:defRPr>
            </a:pPr>
            <a:r>
              <a:t>3. 銀行の種類：役割に応じた多様なプレイヤー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EFE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143D9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6492240"/>
            <a:ext cx="11277295" cy="9144"/>
          </a:xfrm>
          <a:prstGeom prst="rect">
            <a:avLst/>
          </a:prstGeom>
          <a:solidFill>
            <a:srgbClr val="143D9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6576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143D98"/>
                </a:solidFill>
                <a:latin typeface="Hiragino Sans"/>
              </a:defRPr>
            </a:pPr>
            <a:r>
              <a:t>3. 銀行の種類：役割に応じた多様なプレイヤー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1371600" cy="45720"/>
          </a:xfrm>
          <a:prstGeom prst="rect">
            <a:avLst/>
          </a:prstGeom>
          <a:solidFill>
            <a:srgbClr val="E6D0A4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463040"/>
            <a:ext cx="10728655" cy="4754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/>
          <a:p>
            <a:pPr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■ 日本銀行（中央銀行）</a:t>
            </a:r>
          </a:p>
          <a:p>
            <a:pPr lvl="1"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・「銀行の銀行」「政府の銀行」「発券銀行」。</a:t>
            </a:r>
          </a:p>
          <a:p>
            <a:pPr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■ 都市銀行（メガバンク）</a:t>
            </a:r>
          </a:p>
          <a:p>
            <a:pPr lvl="1"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・三菱UFJ、三井住友、みずほ。巨大な資本力で国・世界を支える。</a:t>
            </a:r>
          </a:p>
          <a:p>
            <a:pPr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■ 地方銀行・第二地銀</a:t>
            </a:r>
          </a:p>
          <a:p>
            <a:pPr lvl="1"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・「地域密着」。地元企業との信頼関係（リレーションシップ）が命。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EFE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143D9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6492240"/>
            <a:ext cx="11277295" cy="9144"/>
          </a:xfrm>
          <a:prstGeom prst="rect">
            <a:avLst/>
          </a:prstGeom>
          <a:solidFill>
            <a:srgbClr val="143D9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6576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143D98"/>
                </a:solidFill>
                <a:latin typeface="Hiragino Sans"/>
              </a:defRPr>
            </a:pPr>
            <a:r>
              <a:t>3. 銀行の種類（デジタル・専門特化）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1371600" cy="45720"/>
          </a:xfrm>
          <a:prstGeom prst="rect">
            <a:avLst/>
          </a:prstGeom>
          <a:solidFill>
            <a:srgbClr val="E6D0A4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463040"/>
            <a:ext cx="10728655" cy="4754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/>
          <a:p>
            <a:pPr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■ ネット銀行</a:t>
            </a:r>
          </a:p>
          <a:p>
            <a:pPr lvl="1"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・楽天、住信SBIなど。店舗を持たず利便性と低コストを追求。</a:t>
            </a:r>
          </a:p>
          <a:p>
            <a:pPr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■ 信託銀行</a:t>
            </a:r>
          </a:p>
          <a:p>
            <a:pPr lvl="1"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・遺言、不動産、年金など「管理」をコアとする専門性。</a:t>
            </a:r>
          </a:p>
          <a:p>
            <a:pPr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■ 信用金庫・信用組合</a:t>
            </a:r>
          </a:p>
          <a:p>
            <a:pPr lvl="1"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・地域の相互扶助。利益より地域貢献を優先する非営利組織。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3D9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2011680"/>
            <a:ext cx="121916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ctr">
              <a:defRPr sz="2800">
                <a:solidFill>
                  <a:srgbClr val="E6D0A4"/>
                </a:solidFill>
                <a:latin typeface="Hiragino Sans"/>
              </a:defRPr>
            </a:pPr>
            <a:r>
              <a:t>Section 04</a:t>
            </a:r>
          </a:p>
        </p:txBody>
      </p:sp>
      <p:sp>
        <p:nvSpPr>
          <p:cNvPr id="4" name="Rectangle 3"/>
          <p:cNvSpPr/>
          <p:nvPr/>
        </p:nvSpPr>
        <p:spPr>
          <a:xfrm>
            <a:off x="4876678" y="2926080"/>
            <a:ext cx="2438339" cy="18288"/>
          </a:xfrm>
          <a:prstGeom prst="rect">
            <a:avLst/>
          </a:prstGeom>
          <a:solidFill>
            <a:srgbClr val="E6D0A4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0" y="3291840"/>
            <a:ext cx="12191695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ctr">
              <a:defRPr sz="4000" b="1">
                <a:solidFill>
                  <a:srgbClr val="FEFEFE"/>
                </a:solidFill>
                <a:latin typeface="Hiragino Sans"/>
              </a:defRPr>
            </a:pPr>
            <a:r>
              <a:t>4. 3大業務と銀行収益の仕組み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EFE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143D9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6492240"/>
            <a:ext cx="11277295" cy="9144"/>
          </a:xfrm>
          <a:prstGeom prst="rect">
            <a:avLst/>
          </a:prstGeom>
          <a:solidFill>
            <a:srgbClr val="143D9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6576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143D98"/>
                </a:solidFill>
                <a:latin typeface="Hiragino Sans"/>
              </a:defRPr>
            </a:pPr>
            <a:r>
              <a:t>4. 3大業務と銀行収益の仕組み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1371600" cy="45720"/>
          </a:xfrm>
          <a:prstGeom prst="rect">
            <a:avLst/>
          </a:prstGeom>
          <a:solidFill>
            <a:srgbClr val="E6D0A4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463040"/>
            <a:ext cx="10728655" cy="4754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/>
          <a:p>
            <a:pPr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1. 預金業務：大切な資産を安全に預かる。</a:t>
            </a:r>
          </a:p>
          <a:p>
            <a:pPr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2. 貸出業務：成長を望む企業や個人へ資金を貸し付ける。</a:t>
            </a:r>
          </a:p>
          <a:p>
            <a:pPr lvl="1"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・証書貸付、手形割引など。</a:t>
            </a:r>
          </a:p>
          <a:p>
            <a:pPr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3. 為替業務：現金を運ばず、安全・迅速に決済を完了させる。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EFE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143D9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6492240"/>
            <a:ext cx="11277295" cy="9144"/>
          </a:xfrm>
          <a:prstGeom prst="rect">
            <a:avLst/>
          </a:prstGeom>
          <a:solidFill>
            <a:srgbClr val="143D9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6576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143D98"/>
                </a:solidFill>
                <a:latin typeface="Hiragino Sans"/>
              </a:defRPr>
            </a:pPr>
            <a:r>
              <a:t>4. 収益の源泉：利ざやと信用創造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1371600" cy="45720"/>
          </a:xfrm>
          <a:prstGeom prst="rect">
            <a:avLst/>
          </a:prstGeom>
          <a:solidFill>
            <a:srgbClr val="E6D0A4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463040"/>
            <a:ext cx="10728655" cy="4754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/>
          <a:p>
            <a:pPr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■ 「利ざや」の仕組み</a:t>
            </a:r>
          </a:p>
          <a:p>
            <a:pPr lvl="1"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・貸出金利（受取）と預金利息（支払）の差額こそが利益。</a:t>
            </a:r>
          </a:p>
          <a:p>
            <a:pPr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■ 信用創造機能</a:t>
            </a:r>
          </a:p>
          <a:p>
            <a:pPr lvl="1"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・預金と貸出を繰り返すことで、世の中の通貨量を増大させる。</a:t>
            </a:r>
          </a:p>
          <a:p>
            <a:pPr lvl="1"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・支払準備制度により安全性を担保しつつ、経済を膨らませる機能。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3D9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2011680"/>
            <a:ext cx="121916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ctr">
              <a:defRPr sz="2800">
                <a:solidFill>
                  <a:srgbClr val="E6D0A4"/>
                </a:solidFill>
                <a:latin typeface="Hiragino Sans"/>
              </a:defRPr>
            </a:pPr>
            <a:r>
              <a:t>Section 05</a:t>
            </a:r>
          </a:p>
        </p:txBody>
      </p:sp>
      <p:sp>
        <p:nvSpPr>
          <p:cNvPr id="4" name="Rectangle 3"/>
          <p:cNvSpPr/>
          <p:nvPr/>
        </p:nvSpPr>
        <p:spPr>
          <a:xfrm>
            <a:off x="4876678" y="2926080"/>
            <a:ext cx="2438339" cy="18288"/>
          </a:xfrm>
          <a:prstGeom prst="rect">
            <a:avLst/>
          </a:prstGeom>
          <a:solidFill>
            <a:srgbClr val="E6D0A4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0" y="3291840"/>
            <a:ext cx="12191695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ctr">
              <a:defRPr sz="4000" b="1">
                <a:solidFill>
                  <a:srgbClr val="FEFEFE"/>
                </a:solidFill>
                <a:latin typeface="Hiragino Sans"/>
              </a:defRPr>
            </a:pPr>
            <a:r>
              <a:t>5. 業界を取り巻く現状と直面する課題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EFE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143D9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6492240"/>
            <a:ext cx="11277295" cy="9144"/>
          </a:xfrm>
          <a:prstGeom prst="rect">
            <a:avLst/>
          </a:prstGeom>
          <a:solidFill>
            <a:srgbClr val="143D9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6576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143D98"/>
                </a:solidFill>
                <a:latin typeface="Hiragino Sans"/>
              </a:defRPr>
            </a:pPr>
            <a:r>
              <a:t>5. 業界を取り巻く現状と直面する課題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1371600" cy="45720"/>
          </a:xfrm>
          <a:prstGeom prst="rect">
            <a:avLst/>
          </a:prstGeom>
          <a:solidFill>
            <a:srgbClr val="E6D0A4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463040"/>
            <a:ext cx="10728655" cy="4754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/>
          <a:p>
            <a:pPr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■ 超低金利環境の長期化</a:t>
            </a:r>
          </a:p>
          <a:p>
            <a:pPr lvl="1"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・利ざやの縮小により、旧来の預貸モデルの限界が露呈。</a:t>
            </a:r>
          </a:p>
          <a:p>
            <a:pPr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■ プラットフォーマーとの競争</a:t>
            </a:r>
          </a:p>
          <a:p>
            <a:pPr lvl="1"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・PayPayや楽天ポイントなど、銀行を通さない経済圏の拡大。</a:t>
            </a:r>
          </a:p>
          <a:p>
            <a:pPr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■ 更なる代替手段の脅威</a:t>
            </a:r>
          </a:p>
          <a:p>
            <a:pPr lvl="1"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・ステーブルコインや中央銀行デジタル通貨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3D9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2011680"/>
            <a:ext cx="121916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ctr">
              <a:defRPr sz="2800">
                <a:solidFill>
                  <a:srgbClr val="E6D0A4"/>
                </a:solidFill>
                <a:latin typeface="Hiragino Sans"/>
              </a:defRPr>
            </a:pPr>
            <a:r>
              <a:t>Section 06</a:t>
            </a:r>
          </a:p>
        </p:txBody>
      </p:sp>
      <p:sp>
        <p:nvSpPr>
          <p:cNvPr id="4" name="Rectangle 3"/>
          <p:cNvSpPr/>
          <p:nvPr/>
        </p:nvSpPr>
        <p:spPr>
          <a:xfrm>
            <a:off x="4876678" y="2926080"/>
            <a:ext cx="2438339" cy="18288"/>
          </a:xfrm>
          <a:prstGeom prst="rect">
            <a:avLst/>
          </a:prstGeom>
          <a:solidFill>
            <a:srgbClr val="E6D0A4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0" y="3291840"/>
            <a:ext cx="12191695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ctr">
              <a:defRPr sz="4000" b="1">
                <a:solidFill>
                  <a:srgbClr val="FEFEFE"/>
                </a:solidFill>
                <a:latin typeface="Hiragino Sans"/>
              </a:defRPr>
            </a:pPr>
            <a:r>
              <a:t>6. 未来への展望：DXと新たな金融の形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EFE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143D9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6492240"/>
            <a:ext cx="11277295" cy="9144"/>
          </a:xfrm>
          <a:prstGeom prst="rect">
            <a:avLst/>
          </a:prstGeom>
          <a:solidFill>
            <a:srgbClr val="143D9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6576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143D98"/>
                </a:solidFill>
                <a:latin typeface="Hiragino Sans"/>
              </a:defRPr>
            </a:pPr>
            <a:r>
              <a:t>6. 未来への展望：DXと新たな金融の形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1371600" cy="45720"/>
          </a:xfrm>
          <a:prstGeom prst="rect">
            <a:avLst/>
          </a:prstGeom>
          <a:solidFill>
            <a:srgbClr val="E6D0A4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463040"/>
            <a:ext cx="10728655" cy="4754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/>
          <a:p>
            <a:pPr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■ バンキング・アズ・ア・サービス(BaaS)</a:t>
            </a:r>
          </a:p>
          <a:p>
            <a:pPr lvl="1"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・金融機能をパーツとして他業種に提供するプラットフォーム化。</a:t>
            </a:r>
          </a:p>
          <a:p>
            <a:pPr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■ 融合するテクノロジー：Olive、デジタル通貨</a:t>
            </a:r>
          </a:p>
          <a:p>
            <a:pPr lvl="1"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・銀行口座と決済アプリの完全統合。さらにCBDC（デジタル円）の可能性。</a:t>
            </a:r>
          </a:p>
          <a:p>
            <a:pPr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■ コンサルタントへの進化</a:t>
            </a:r>
          </a:p>
          <a:p>
            <a:pPr lvl="1"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・「金貸し」から、顧客の経営課題を解決するパートナーへ。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EFE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143D9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6492240"/>
            <a:ext cx="11277295" cy="9144"/>
          </a:xfrm>
          <a:prstGeom prst="rect">
            <a:avLst/>
          </a:prstGeom>
          <a:solidFill>
            <a:srgbClr val="143D9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6576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143D98"/>
                </a:solidFill>
                <a:latin typeface="Hiragino Sans"/>
              </a:defRPr>
            </a:pPr>
            <a:r>
              <a:t>まとめ：信頼を基盤に、未来を創る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1371600" cy="45720"/>
          </a:xfrm>
          <a:prstGeom prst="rect">
            <a:avLst/>
          </a:prstGeom>
          <a:solidFill>
            <a:srgbClr val="E6D0A4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463040"/>
            <a:ext cx="10728655" cy="4754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/>
          <a:p>
            <a:pPr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・銀行は社会の「心臓」であり、血液（資金）を循環させる責務がある。</a:t>
            </a:r>
          </a:p>
          <a:p>
            <a:pPr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・伝統的なモデルからの脱却と、デジタルとの融合が不可避である。</a:t>
            </a:r>
          </a:p>
          <a:p>
            <a:pPr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・「信頼」という最大の無形資産を、どうテックと掛け合わせるか。</a:t>
            </a:r>
          </a:p>
          <a:p>
            <a:pPr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・本日の学びが、金融の未来を考えるきっかけになれば幸いです。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EFE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143D9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6492240"/>
            <a:ext cx="11277295" cy="9144"/>
          </a:xfrm>
          <a:prstGeom prst="rect">
            <a:avLst/>
          </a:prstGeom>
          <a:solidFill>
            <a:srgbClr val="143D9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6576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143D98"/>
                </a:solidFill>
                <a:latin typeface="Hiragino Sans"/>
              </a:defRPr>
            </a:pPr>
            <a:r>
              <a:t>参考一覧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1371600" cy="45720"/>
          </a:xfrm>
          <a:prstGeom prst="rect">
            <a:avLst/>
          </a:prstGeom>
          <a:solidFill>
            <a:srgbClr val="E6D0A4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463040"/>
            <a:ext cx="10728655" cy="4754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/>
          <a:p>
            <a:pPr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（ここに参考資料・Webサイトのリンク等を追記）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